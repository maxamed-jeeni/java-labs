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57" r:id="rId4"/>
    <p:sldId id="274" r:id="rId5"/>
    <p:sldId id="260" r:id="rId6"/>
    <p:sldId id="261" r:id="rId7"/>
    <p:sldId id="262" r:id="rId8"/>
    <p:sldId id="263" r:id="rId9"/>
    <p:sldId id="264" r:id="rId10"/>
    <p:sldId id="265" r:id="rId11"/>
    <p:sldId id="275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6C24B-7758-40AE-BE08-497B7FB91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3BEE9-C2FB-4BC0-8C01-007831F67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80264-3AC0-4569-A240-D4C21B0F6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B46514-7216-4680-9CE9-062E3DD9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736EE-07E0-4602-9099-3E9F856B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5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C274-1BB3-49DB-BD9B-1FE9D2F7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97C38-854D-42E7-8812-600313AB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5BB2-E46B-471A-99F4-C2610382F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C2E4C-C47F-48E8-8DC8-D4EF9815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9895-DF13-4046-9B56-EC34B6238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0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94BFA-CE28-49E5-A5C6-096E32D2C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74A7B-E50C-4731-AF4A-D3DE9EE26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A30BE-4E14-4AF5-A246-27B70346A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270F1-F0D9-4539-BED7-772006A0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E769-6E96-480D-9886-E746FA8E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61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7B54-8F8E-45AC-8103-18F22887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38023-B8B2-4A7E-B827-033DC8AE3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21D5F-54D8-4575-87EA-8FD2ACE36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92D93-A43B-45B1-B268-A3DD82F29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C3D7A-01FB-4CD5-A6FC-16E11738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8F971-D584-4C92-9614-D715A8616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C0D6-2EA1-430F-80CF-D62CB8B6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47F32-165E-47ED-A40D-413AC3798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17F38-B661-40D6-8793-C2917C80F1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6A6E0-E371-4268-A9C1-BEBC55758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253E5E-7380-4717-832C-146FBB816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00C00E-563D-4C4C-B34B-B349904AF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D4E11-7AB5-4EE4-BBFE-4B1D8B9E0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C6B798-A3BD-45B8-AAAB-6882482A7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0218-DA74-44D4-9903-E639E859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66A89-F9A1-4B29-83A7-D986635EE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196C8F-7ADF-4970-82CF-7D73E4A9C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58886-1DA1-485C-815D-4473744F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3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7660D-B5E8-438D-9DED-B72C11901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C3171-9643-498B-A0EA-5AE6734F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AFDF0-3587-4730-9328-CCDC1F6F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2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6F421-9817-4610-96D4-64B40167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5B66E-8C83-44A0-9CA7-D25325819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0F69A-000D-43C6-B8AD-861DBB738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131D1-1817-434A-98E9-E4766B0F7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C0157-0564-40E9-957D-41651856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49EF5-7AAB-4105-807C-0B56898E3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21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21D7-A53A-4EE2-9940-4CEBAB934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9646B-1E87-470D-AD1A-2E7E1E334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8CFA5-BDDA-4DB4-A85A-550EC6702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1C90E-8056-4700-8FBC-98ED9D1A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A7E51-3A23-410C-88A8-EC4E5969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0FF21-F382-4797-A34B-89EF3BBAD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1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5F35-153A-4C9B-B104-6044E17C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4BB56-63E3-4425-BF41-B3659BE7F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764CB-083E-4585-BC07-852BD927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F544-DA40-463F-9A0E-DEC12EBA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0FE43-97CA-4357-9A4B-DB263BA9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3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92F36E-55B3-431C-8DD3-0B5F1EF6D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49C8E-D69E-4D49-A648-136C6F8B73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7F271-81D8-4F56-B6E4-F840F702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5E7C6-C3D0-4C24-A9AE-163E16E2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EDA4-692F-4C63-AA01-B6110ED9D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53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BF15D1-C04C-498F-AF5F-FA2B15A7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0CBC8-8DDD-4A38-A2E9-01D12A4C3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E29C3-5F78-42CB-9A3E-895A7798E9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40ABC-FBEB-4CB0-802E-A8440FD6329C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57909-2088-4295-9A07-AAA7AC0B20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F94C8-7BAE-437B-9988-F874832067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8BB4A-062C-4C28-8D69-38F3AD0C2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55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pointtech.com/java-tutorial" TargetMode="External"/><Relationship Id="rId2" Type="http://schemas.openxmlformats.org/officeDocument/2006/relationships/hyperlink" Target="https://www.tpointtech.com/simple-program-of-jav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pointtech.com/static-keyword-in-java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690813" y="337305"/>
            <a:ext cx="2890837" cy="948832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lin ang="2700000" scaled="1"/>
            <a:tileRect/>
          </a:gra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Chapter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955741"/>
            <a:ext cx="12192000" cy="16465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Vertical Scroll 4"/>
          <p:cNvSpPr/>
          <p:nvPr/>
        </p:nvSpPr>
        <p:spPr>
          <a:xfrm>
            <a:off x="1071563" y="1430020"/>
            <a:ext cx="6129338" cy="4247449"/>
          </a:xfrm>
          <a:prstGeom prst="verticalScroll">
            <a:avLst/>
          </a:prstGeom>
          <a:effectLst>
            <a:glow rad="101600">
              <a:schemeClr val="accent1">
                <a:satMod val="175000"/>
                <a:alpha val="40000"/>
              </a:schemeClr>
            </a:glow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Java</a:t>
            </a:r>
            <a:r>
              <a:rPr lang="en-US" sz="3600" b="1">
                <a:solidFill>
                  <a:schemeClr val="accent4">
                    <a:lumMod val="60000"/>
                    <a:lumOff val="40000"/>
                  </a:schemeClr>
                </a:solidFill>
              </a:rPr>
              <a:t> Introduction 6 .</a:t>
            </a:r>
            <a:endParaRPr lang="en-US" sz="3600" b="1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749543" y="1603375"/>
            <a:ext cx="10515600" cy="5040313"/>
          </a:xfrm>
        </p:spPr>
        <p:txBody>
          <a:bodyPr numCol="1">
            <a:norm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Java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Syntax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 Output / Print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Quotes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 Output Numbers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 Comments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Variables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Variables……</a:t>
            </a:r>
          </a:p>
          <a:p>
            <a:pPr algn="ctr"/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578091" y="22225"/>
            <a:ext cx="1514475" cy="1450656"/>
          </a:xfrm>
          <a:prstGeom prst="ellipse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 01</a:t>
            </a:r>
          </a:p>
        </p:txBody>
      </p:sp>
      <p:sp>
        <p:nvSpPr>
          <p:cNvPr id="2" name="Horizontal Scroll 1"/>
          <p:cNvSpPr/>
          <p:nvPr/>
        </p:nvSpPr>
        <p:spPr>
          <a:xfrm>
            <a:off x="2628899" y="24225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191802"/>
            <a:ext cx="11558427" cy="533228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is a popular programming language, created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owned by Oracle, and more than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billion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devices run Java.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(especially Android apps)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Desktop applications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servers and application servers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connection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much, much more!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D346375C-186C-46A6-94D5-64633B361E1D}"/>
              </a:ext>
            </a:extLst>
          </p:cNvPr>
          <p:cNvSpPr/>
          <p:nvPr/>
        </p:nvSpPr>
        <p:spPr>
          <a:xfrm>
            <a:off x="1913610" y="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What is Java?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498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6" y="1304818"/>
            <a:ext cx="11558427" cy="4941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Why Use Java?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Java works on different platforms (</a:t>
            </a:r>
            <a:r>
              <a:rPr lang="en-US" b="1" dirty="0"/>
              <a:t>Windows, Mac, Linux, Raspberry Pi</a:t>
            </a:r>
            <a:r>
              <a:rPr lang="en-US" dirty="0"/>
              <a:t>, etc.)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is one of the most popular programming languages in the world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has a large demand in the current job market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is easy to learn and simple to use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is open-source and free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 is secure, fast, and powerful.</a:t>
            </a:r>
          </a:p>
          <a:p>
            <a:endParaRPr lang="en-US" sz="1800" dirty="0"/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D346375C-186C-46A6-94D5-64633B361E1D}"/>
              </a:ext>
            </a:extLst>
          </p:cNvPr>
          <p:cNvSpPr/>
          <p:nvPr/>
        </p:nvSpPr>
        <p:spPr>
          <a:xfrm>
            <a:off x="1913610" y="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What is Java?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92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130157"/>
            <a:ext cx="11558427" cy="53939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Java is case-sensitive: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and "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have different meanings.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created a Java file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Main.java,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used the following code to print "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to the screen: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Main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class called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Java, every program must be inside a class.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main(String[]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args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main method. is a group of statements, calculations, and </a:t>
            </a:r>
            <a:r>
              <a:rPr lang="en-US" sz="1800" dirty="0"/>
              <a:t>instructions or Commands.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starting point of every Java program.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run the program, Java looks for this method first.</a:t>
            </a:r>
          </a:p>
          <a:p>
            <a:pPr marL="0" indent="0">
              <a:buNone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World");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prints text on the screen.</a:t>
            </a:r>
          </a:p>
          <a:p>
            <a:pPr lvl="1"/>
            <a:r>
              <a:rPr lang="en-US" sz="1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“show something on the screen and go to a new line.”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it shows Hello World.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7E0236-BA25-4998-887A-62215E11BB43}"/>
              </a:ext>
            </a:extLst>
          </p:cNvPr>
          <p:cNvSpPr/>
          <p:nvPr/>
        </p:nvSpPr>
        <p:spPr>
          <a:xfrm>
            <a:off x="7696199" y="2567047"/>
            <a:ext cx="39247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("Hello World");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5" name="Horizontal Scroll 1">
            <a:extLst>
              <a:ext uri="{FF2B5EF4-FFF2-40B4-BE49-F238E27FC236}">
                <a16:creationId xmlns:a16="http://schemas.microsoft.com/office/drawing/2014/main" id="{361BA80A-8F0A-4C02-9E12-FB1E27A76225}"/>
              </a:ext>
            </a:extLst>
          </p:cNvPr>
          <p:cNvSpPr/>
          <p:nvPr/>
        </p:nvSpPr>
        <p:spPr>
          <a:xfrm>
            <a:off x="2320674" y="41096"/>
            <a:ext cx="8364780" cy="951969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Java Syntax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7240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Text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previous slide that you can use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println()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to output values or print text in Java.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add as many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println()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as you want.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it will add a new line for each method.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Horizontal Scroll 1">
            <a:extLst>
              <a:ext uri="{FF2B5EF4-FFF2-40B4-BE49-F238E27FC236}">
                <a16:creationId xmlns:a16="http://schemas.microsoft.com/office/drawing/2014/main" id="{3D84AA3E-F707-4F17-9071-46A66B6F89F9}"/>
              </a:ext>
            </a:extLst>
          </p:cNvPr>
          <p:cNvSpPr/>
          <p:nvPr/>
        </p:nvSpPr>
        <p:spPr>
          <a:xfrm>
            <a:off x="2628899" y="24225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Java Output / Print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F19516-8AA1-4777-AB76-55574E2140BC}"/>
              </a:ext>
            </a:extLst>
          </p:cNvPr>
          <p:cNvSpPr/>
          <p:nvPr/>
        </p:nvSpPr>
        <p:spPr>
          <a:xfrm>
            <a:off x="965551" y="421576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public class Main {</a:t>
            </a:r>
          </a:p>
          <a:p>
            <a:r>
              <a:rPr lang="en-US" b="1" dirty="0">
                <a:latin typeface="Consolas" panose="020B0609020204030204" pitchFamily="49" charset="0"/>
              </a:rPr>
              <a:t>  public static void main(String[] </a:t>
            </a:r>
            <a:r>
              <a:rPr lang="en-US" b="1" dirty="0" err="1">
                <a:latin typeface="Consolas" panose="020B0609020204030204" pitchFamily="49" charset="0"/>
              </a:rPr>
              <a:t>args</a:t>
            </a:r>
            <a:r>
              <a:rPr lang="en-US" b="1" dirty="0">
                <a:latin typeface="Consolas" panose="020B0609020204030204" pitchFamily="49" charset="0"/>
              </a:rPr>
              <a:t>) {</a:t>
            </a:r>
          </a:p>
          <a:p>
            <a:r>
              <a:rPr lang="en-US" b="1" dirty="0">
                <a:latin typeface="Consolas" panose="020B0609020204030204" pitchFamily="49" charset="0"/>
              </a:rPr>
              <a:t>    </a:t>
            </a:r>
            <a:r>
              <a:rPr lang="en-US" b="1" dirty="0" err="1">
                <a:latin typeface="Consolas" panose="020B0609020204030204" pitchFamily="49" charset="0"/>
              </a:rPr>
              <a:t>System.out.println</a:t>
            </a:r>
            <a:r>
              <a:rPr lang="en-US" b="1" dirty="0">
                <a:latin typeface="Consolas" panose="020B0609020204030204" pitchFamily="49" charset="0"/>
              </a:rPr>
              <a:t>("Welcome to java");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</a:rPr>
              <a:t>System.out.println</a:t>
            </a:r>
            <a:r>
              <a:rPr lang="en-US" b="1" dirty="0">
                <a:latin typeface="Consolas" panose="020B0609020204030204" pitchFamily="49" charset="0"/>
              </a:rPr>
              <a:t>("Hello World!");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</a:rPr>
              <a:t>System.out.println</a:t>
            </a:r>
            <a:r>
              <a:rPr lang="en-US" b="1" dirty="0">
                <a:latin typeface="Consolas" panose="020B0609020204030204" pitchFamily="49" charset="0"/>
              </a:rPr>
              <a:t>("I am learning Java.");</a:t>
            </a:r>
          </a:p>
          <a:p>
            <a:pPr lvl="1"/>
            <a:r>
              <a:rPr lang="en-US" b="1" dirty="0" err="1">
                <a:latin typeface="Consolas" panose="020B0609020204030204" pitchFamily="49" charset="0"/>
              </a:rPr>
              <a:t>System.out.println</a:t>
            </a:r>
            <a:r>
              <a:rPr lang="en-US" b="1" dirty="0">
                <a:latin typeface="Consolas" panose="020B0609020204030204" pitchFamily="49" charset="0"/>
              </a:rPr>
              <a:t>("It is awesome!");</a:t>
            </a:r>
          </a:p>
          <a:p>
            <a:r>
              <a:rPr lang="en-US" b="1" dirty="0">
                <a:latin typeface="Consolas" panose="020B0609020204030204" pitchFamily="49" charset="0"/>
              </a:rPr>
              <a:t>  }</a:t>
            </a:r>
          </a:p>
          <a:p>
            <a:r>
              <a:rPr lang="en-US" b="1" dirty="0">
                <a:latin typeface="Consolas" panose="020B0609020204030204" pitchFamily="49" charset="0"/>
              </a:rPr>
              <a:t>}</a:t>
            </a:r>
            <a:endParaRPr lang="en-US" b="1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B4B7D3-7452-44F1-99FA-B260B1A5B5F1}"/>
              </a:ext>
            </a:extLst>
          </p:cNvPr>
          <p:cNvSpPr/>
          <p:nvPr/>
        </p:nvSpPr>
        <p:spPr>
          <a:xfrm>
            <a:off x="3921084" y="3601361"/>
            <a:ext cx="13084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756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253448"/>
            <a:ext cx="11558427" cy="527064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must be wrapped inside double quotation marks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""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forget the double quotes, an error occurs.</a:t>
            </a:r>
          </a:p>
          <a:p>
            <a:pPr lvl="1">
              <a:lnSpc>
                <a:spcPct val="150000"/>
              </a:lnSpc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("This sentence will work!");</a:t>
            </a: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Print() Method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also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method, which is similar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println().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only difference is that it does not insert a new line at the end of the output.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 World! "); ------&gt; inserting new line.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</a:t>
            </a:r>
            <a:r>
              <a:rPr 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 will print on the same line."); ---------&gt; adding two lines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BCBD2517-675E-4381-ABB1-C7B2A7729801}"/>
              </a:ext>
            </a:extLst>
          </p:cNvPr>
          <p:cNvSpPr/>
          <p:nvPr/>
        </p:nvSpPr>
        <p:spPr>
          <a:xfrm>
            <a:off x="1913610" y="0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Double Quotes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58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Print Numbers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println()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to print numbers.</a:t>
            </a:r>
          </a:p>
          <a:p>
            <a:pPr marL="457200" lvl="1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unlike text, we don't put numbers inside double quotes.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AEF39C56-4813-49A3-BB58-B83DC0F9FDAF}"/>
              </a:ext>
            </a:extLst>
          </p:cNvPr>
          <p:cNvSpPr/>
          <p:nvPr/>
        </p:nvSpPr>
        <p:spPr>
          <a:xfrm>
            <a:off x="2104917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Java Output Numbers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C94438-07E7-41DB-B592-9F07E4B135BB}"/>
              </a:ext>
            </a:extLst>
          </p:cNvPr>
          <p:cNvSpPr/>
          <p:nvPr/>
        </p:nvSpPr>
        <p:spPr>
          <a:xfrm>
            <a:off x="982895" y="2710884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public class Main {</a:t>
            </a:r>
          </a:p>
          <a:p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  public static void main(String[] </a:t>
            </a:r>
            <a:r>
              <a:rPr lang="en-US" b="1" dirty="0" err="1">
                <a:latin typeface="Arial Narrow" panose="020B0606020202030204" pitchFamily="34" charset="0"/>
                <a:cs typeface="Aharoni" panose="02010803020104030203" pitchFamily="2" charset="-79"/>
              </a:rPr>
              <a:t>args</a:t>
            </a:r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) {</a:t>
            </a:r>
          </a:p>
          <a:p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    </a:t>
            </a:r>
            <a:r>
              <a:rPr lang="en-US" b="1" dirty="0" err="1">
                <a:latin typeface="Arial Narrow" panose="020B0606020202030204" pitchFamily="34" charset="0"/>
                <a:cs typeface="Aharoni" panose="02010803020104030203" pitchFamily="2" charset="-79"/>
              </a:rPr>
              <a:t>System.out.println</a:t>
            </a:r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(3 + 3);</a:t>
            </a:r>
          </a:p>
          <a:p>
            <a:pPr lvl="1"/>
            <a:r>
              <a:rPr lang="en-US" b="1" dirty="0" err="1">
                <a:latin typeface="Arial Narrow" panose="020B0606020202030204" pitchFamily="34" charset="0"/>
              </a:rPr>
              <a:t>System.out.println</a:t>
            </a:r>
            <a:r>
              <a:rPr lang="en-US" b="1" dirty="0">
                <a:latin typeface="Arial Narrow" panose="020B0606020202030204" pitchFamily="34" charset="0"/>
              </a:rPr>
              <a:t>(3);</a:t>
            </a:r>
          </a:p>
          <a:p>
            <a:pPr lvl="1"/>
            <a:r>
              <a:rPr lang="en-US" b="1" dirty="0" err="1">
                <a:latin typeface="Arial Narrow" panose="020B0606020202030204" pitchFamily="34" charset="0"/>
              </a:rPr>
              <a:t>System.out.println</a:t>
            </a:r>
            <a:r>
              <a:rPr lang="en-US" b="1" dirty="0">
                <a:latin typeface="Arial Narrow" panose="020B0606020202030204" pitchFamily="34" charset="0"/>
              </a:rPr>
              <a:t>(358);</a:t>
            </a:r>
          </a:p>
          <a:p>
            <a:pPr lvl="1"/>
            <a:r>
              <a:rPr lang="en-US" b="1" dirty="0" err="1">
                <a:latin typeface="Arial Narrow" panose="020B0606020202030204" pitchFamily="34" charset="0"/>
              </a:rPr>
              <a:t>System.out.println</a:t>
            </a:r>
            <a:r>
              <a:rPr lang="en-US" b="1" dirty="0">
                <a:latin typeface="Arial Narrow" panose="020B0606020202030204" pitchFamily="34" charset="0"/>
              </a:rPr>
              <a:t>(50000);</a:t>
            </a:r>
          </a:p>
          <a:p>
            <a:endParaRPr lang="en-US" b="1" dirty="0">
              <a:latin typeface="Arial Narrow" panose="020B0606020202030204" pitchFamily="34" charset="0"/>
              <a:cs typeface="Aharoni" panose="02010803020104030203" pitchFamily="2" charset="-79"/>
            </a:endParaRPr>
          </a:p>
          <a:p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  }</a:t>
            </a:r>
          </a:p>
          <a:p>
            <a:r>
              <a:rPr lang="en-US" b="1" dirty="0">
                <a:latin typeface="Arial Narrow" panose="020B0606020202030204" pitchFamily="34" charset="0"/>
                <a:cs typeface="Aharoni" panose="02010803020104030203" pitchFamily="2" charset="-79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5682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can be used to explain Java code, and to make it more readable. It can also be used to prevent execution when testing alternative code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Single-line Comments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Single-line comments start with two forward slashes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(//).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text between </a:t>
            </a:r>
            <a:r>
              <a:rPr lang="en-US" sz="2000" b="1" dirty="0">
                <a:latin typeface="Aharoni" panose="02010803020104030203" pitchFamily="2" charset="-79"/>
                <a:cs typeface="Aharoni" panose="02010803020104030203" pitchFamily="2" charset="-79"/>
              </a:rPr>
              <a:t>//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end of the line is ignored by Java (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not be executed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71B7A1-1685-487F-BD05-B9EECCD44639}"/>
              </a:ext>
            </a:extLst>
          </p:cNvPr>
          <p:cNvSpPr/>
          <p:nvPr/>
        </p:nvSpPr>
        <p:spPr>
          <a:xfrm>
            <a:off x="1917842" y="437420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// This is a comment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("Hello World");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6" name="Horizontal Scroll 1">
            <a:extLst>
              <a:ext uri="{FF2B5EF4-FFF2-40B4-BE49-F238E27FC236}">
                <a16:creationId xmlns:a16="http://schemas.microsoft.com/office/drawing/2014/main" id="{9B7D1899-7B12-468A-ABCA-8F444080CAD9}"/>
              </a:ext>
            </a:extLst>
          </p:cNvPr>
          <p:cNvSpPr/>
          <p:nvPr/>
        </p:nvSpPr>
        <p:spPr>
          <a:xfrm>
            <a:off x="2447866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Java Comments</a:t>
            </a:r>
            <a:endParaRPr lang="en-US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46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a container that holds a value while the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Java program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executed. A variable is assigned a data type.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variable is the name of a memory location. There are three types of variables in Java: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b="1" dirty="0"/>
              <a:t>Variable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the name of a reserved area allocated in memory. In other words, it is the name of the memory location.</a:t>
            </a:r>
          </a:p>
          <a:p>
            <a:pPr marL="0" indent="0" algn="ctr">
              <a:buNone/>
            </a:pPr>
            <a:r>
              <a:rPr lang="en-US" b="1" dirty="0"/>
              <a:t>Types of Variables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variables in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Java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variable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variable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variable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  <a:cs typeface="Aharoni" panose="02010803020104030203" pitchFamily="2" charset="-79"/>
              </a:rPr>
              <a:t>Java Variables</a:t>
            </a:r>
          </a:p>
        </p:txBody>
      </p:sp>
      <p:pic>
        <p:nvPicPr>
          <p:cNvPr id="1026" name="Picture 2" descr="types of variables in java">
            <a:extLst>
              <a:ext uri="{FF2B5EF4-FFF2-40B4-BE49-F238E27FC236}">
                <a16:creationId xmlns:a16="http://schemas.microsoft.com/office/drawing/2014/main" id="{24AEEAD3-4664-46A4-994A-231C6E1B3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0135" y="3429000"/>
            <a:ext cx="3519113" cy="3675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9137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284267"/>
            <a:ext cx="11558427" cy="547612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declared inside the body of the method is called a local variable. You can use this variable only within that method.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local variable cannot be defined with the "static" keyword.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2133195" y="184939"/>
            <a:ext cx="7925609" cy="88299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1) Local Variable</a:t>
            </a:r>
          </a:p>
        </p:txBody>
      </p:sp>
      <p:sp>
        <p:nvSpPr>
          <p:cNvPr id="8" name="Horizontal Scroll 1">
            <a:extLst>
              <a:ext uri="{FF2B5EF4-FFF2-40B4-BE49-F238E27FC236}">
                <a16:creationId xmlns:a16="http://schemas.microsoft.com/office/drawing/2014/main" id="{5056499D-F1A2-4D37-BEE6-A743670BDF14}"/>
              </a:ext>
            </a:extLst>
          </p:cNvPr>
          <p:cNvSpPr/>
          <p:nvPr/>
        </p:nvSpPr>
        <p:spPr>
          <a:xfrm>
            <a:off x="2062988" y="2907587"/>
            <a:ext cx="7925608" cy="883578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2) Instance Variable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65D08-8876-4B64-8DF6-AAAED2D81A0D}"/>
              </a:ext>
            </a:extLst>
          </p:cNvPr>
          <p:cNvSpPr/>
          <p:nvPr/>
        </p:nvSpPr>
        <p:spPr>
          <a:xfrm>
            <a:off x="246579" y="3986707"/>
            <a:ext cx="11698842" cy="873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declared inside the class but outside the body of the method, is called an instance variable. It is not declared as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static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2254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6" y="1381874"/>
            <a:ext cx="11558427" cy="520386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that is declared as static is called a static variable. It cannot be local.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cannot declare it inside a method (it cannot be local).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copy of a static variable is created.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3) Static variable</a:t>
            </a:r>
          </a:p>
        </p:txBody>
      </p:sp>
    </p:spTree>
    <p:extLst>
      <p:ext uri="{BB962C8B-B14F-4D97-AF65-F5344CB8AC3E}">
        <p14:creationId xmlns:p14="http://schemas.microsoft.com/office/powerpoint/2010/main" val="159142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are containers for storing data values.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"Hello". String values are surrounded by double quotes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stores integers (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whole numbers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without decimals, such as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-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123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stores floating point numbers, with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decimals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19.99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-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19.99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stores single characters, such as ‘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'. Char values are surrounded by single quotes.</a:t>
            </a:r>
          </a:p>
          <a:p>
            <a:pPr marL="457200" lvl="1" indent="0">
              <a:lnSpc>
                <a:spcPct val="16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stores values with two states: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/>
              <a:t>Declaring (Creating) Variables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variable in Java, you need to: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 type (like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variable a name (like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age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Optionally assign it a value using </a:t>
            </a:r>
            <a:r>
              <a:rPr lang="en-US" sz="1900" b="1" dirty="0">
                <a:latin typeface="Arial Black" panose="020B0A04020102020204" pitchFamily="34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Java Variables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216501-85EC-4BD0-BAF9-31FB5C48BE1F}"/>
              </a:ext>
            </a:extLst>
          </p:cNvPr>
          <p:cNvSpPr/>
          <p:nvPr/>
        </p:nvSpPr>
        <p:spPr>
          <a:xfrm>
            <a:off x="7281325" y="5625370"/>
            <a:ext cx="2800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type </a:t>
            </a:r>
            <a:r>
              <a:rPr lang="en-US" b="1" dirty="0" err="1"/>
              <a:t>variableName</a:t>
            </a:r>
            <a:r>
              <a:rPr lang="en-US" b="1" dirty="0"/>
              <a:t> = value;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6D7234-EE9C-4AC2-B607-96D5565C2852}"/>
              </a:ext>
            </a:extLst>
          </p:cNvPr>
          <p:cNvSpPr/>
          <p:nvPr/>
        </p:nvSpPr>
        <p:spPr>
          <a:xfrm>
            <a:off x="8165022" y="4990941"/>
            <a:ext cx="816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Syntax</a:t>
            </a:r>
          </a:p>
        </p:txBody>
      </p:sp>
    </p:spTree>
    <p:extLst>
      <p:ext uri="{BB962C8B-B14F-4D97-AF65-F5344CB8AC3E}">
        <p14:creationId xmlns:p14="http://schemas.microsoft.com/office/powerpoint/2010/main" val="1367723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6" y="1315092"/>
            <a:ext cx="11558427" cy="531303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variable called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type String and assign it the value "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we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println()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print the name variable:-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variable called </a:t>
            </a:r>
            <a:r>
              <a:rPr lang="en-US" sz="2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myNum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type int and assign it the value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2098545" y="9471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i="1" dirty="0">
                <a:latin typeface="Arial Black" panose="020B0A04020102020204" pitchFamily="34" charset="0"/>
              </a:rPr>
              <a:t>Example</a:t>
            </a:r>
            <a:r>
              <a:rPr lang="en-US" sz="2400" b="1" i="1" dirty="0">
                <a:solidFill>
                  <a:schemeClr val="bg1"/>
                </a:solidFill>
                <a:latin typeface="Arial Black" panose="020B0A04020102020204" pitchFamily="34" charset="0"/>
                <a:cs typeface="Times New Roman" panose="02020603050405020304" pitchFamily="18" charset="0"/>
              </a:rPr>
              <a:t>s</a:t>
            </a:r>
            <a:endParaRPr lang="en-US" sz="2400" i="1" dirty="0"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AA81B-F54F-4C1D-A995-5ECD39B89E36}"/>
              </a:ext>
            </a:extLst>
          </p:cNvPr>
          <p:cNvSpPr/>
          <p:nvPr/>
        </p:nvSpPr>
        <p:spPr>
          <a:xfrm>
            <a:off x="2098219" y="2095773"/>
            <a:ext cx="42980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String name = "John";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(name);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71400C-0AA4-424B-BEF9-B63720AD5EBC}"/>
              </a:ext>
            </a:extLst>
          </p:cNvPr>
          <p:cNvSpPr/>
          <p:nvPr/>
        </p:nvSpPr>
        <p:spPr>
          <a:xfrm>
            <a:off x="8187252" y="2913345"/>
            <a:ext cx="691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John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1F040F-B706-4B19-82DD-690F62691BAD}"/>
              </a:ext>
            </a:extLst>
          </p:cNvPr>
          <p:cNvSpPr/>
          <p:nvPr/>
        </p:nvSpPr>
        <p:spPr>
          <a:xfrm>
            <a:off x="1982913" y="4606668"/>
            <a:ext cx="46884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int </a:t>
            </a:r>
            <a:r>
              <a:rPr lang="en-US" b="1" dirty="0" err="1"/>
              <a:t>myNum</a:t>
            </a:r>
            <a:r>
              <a:rPr lang="en-US" b="1" dirty="0"/>
              <a:t> = 15;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myNum</a:t>
            </a:r>
            <a:r>
              <a:rPr lang="en-US" b="1" dirty="0"/>
              <a:t>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AD6271-1E35-4F53-AFED-F22A58F47415}"/>
              </a:ext>
            </a:extLst>
          </p:cNvPr>
          <p:cNvSpPr/>
          <p:nvPr/>
        </p:nvSpPr>
        <p:spPr>
          <a:xfrm>
            <a:off x="8503845" y="5474847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15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519E57-DC0F-437B-9F83-66E521331A2A}"/>
              </a:ext>
            </a:extLst>
          </p:cNvPr>
          <p:cNvSpPr/>
          <p:nvPr/>
        </p:nvSpPr>
        <p:spPr>
          <a:xfrm>
            <a:off x="7997297" y="2158695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 put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58BC70-2E28-4958-910B-77399578022F}"/>
              </a:ext>
            </a:extLst>
          </p:cNvPr>
          <p:cNvSpPr/>
          <p:nvPr/>
        </p:nvSpPr>
        <p:spPr>
          <a:xfrm>
            <a:off x="8187252" y="4770733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 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2645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6" y="1568020"/>
            <a:ext cx="11558427" cy="450008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declare a variable without assigning the value, and assign the value later: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14303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9A02DD-B6A5-4259-BB94-B5BC842F5373}"/>
              </a:ext>
            </a:extLst>
          </p:cNvPr>
          <p:cNvSpPr/>
          <p:nvPr/>
        </p:nvSpPr>
        <p:spPr>
          <a:xfrm>
            <a:off x="1270783" y="2590843"/>
            <a:ext cx="4215829" cy="2045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int </a:t>
            </a:r>
            <a:r>
              <a:rPr lang="en-US" b="1" dirty="0" err="1"/>
              <a:t>myNum</a:t>
            </a:r>
            <a:r>
              <a:rPr lang="en-US" b="1" dirty="0"/>
              <a:t>;</a:t>
            </a:r>
          </a:p>
          <a:p>
            <a:r>
              <a:rPr lang="en-US" b="1" dirty="0"/>
              <a:t>    </a:t>
            </a:r>
            <a:r>
              <a:rPr lang="en-US" b="1" dirty="0" err="1"/>
              <a:t>myNum</a:t>
            </a:r>
            <a:r>
              <a:rPr lang="en-US" b="1" dirty="0"/>
              <a:t> = 15;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myNum</a:t>
            </a:r>
            <a:r>
              <a:rPr lang="en-US" b="1" dirty="0"/>
              <a:t>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CFE30-A998-46A0-B985-78E7387F0964}"/>
              </a:ext>
            </a:extLst>
          </p:cNvPr>
          <p:cNvSpPr/>
          <p:nvPr/>
        </p:nvSpPr>
        <p:spPr>
          <a:xfrm>
            <a:off x="7329574" y="3244334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15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6E7D-FFC5-40CE-9414-3A1D5DDCFC39}"/>
              </a:ext>
            </a:extLst>
          </p:cNvPr>
          <p:cNvSpPr/>
          <p:nvPr/>
        </p:nvSpPr>
        <p:spPr>
          <a:xfrm>
            <a:off x="7012981" y="237515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 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602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Display Variables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println()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often used to display variables.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combine both text and a variable, use the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use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to add a variable to another variable: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rial Black" panose="020B0A04020102020204" pitchFamily="34" charset="0"/>
              </a:rPr>
              <a:t>Java Print Variables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A5A378-FAA8-4FEC-9F01-A0905AEFF61F}"/>
              </a:ext>
            </a:extLst>
          </p:cNvPr>
          <p:cNvSpPr/>
          <p:nvPr/>
        </p:nvSpPr>
        <p:spPr>
          <a:xfrm>
            <a:off x="1363038" y="2551837"/>
            <a:ext cx="41850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String name = "John";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("Hello " + name);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071B7B-3879-4238-B4D0-96FE60863F49}"/>
              </a:ext>
            </a:extLst>
          </p:cNvPr>
          <p:cNvSpPr/>
          <p:nvPr/>
        </p:nvSpPr>
        <p:spPr>
          <a:xfrm>
            <a:off x="8189323" y="3158210"/>
            <a:ext cx="1451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Hello John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5DF925-6D78-4026-B730-BAEE40376F5A}"/>
              </a:ext>
            </a:extLst>
          </p:cNvPr>
          <p:cNvSpPr/>
          <p:nvPr/>
        </p:nvSpPr>
        <p:spPr>
          <a:xfrm>
            <a:off x="3140468" y="4771458"/>
            <a:ext cx="434202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String </a:t>
            </a:r>
            <a:r>
              <a:rPr lang="en-US" b="1" dirty="0" err="1"/>
              <a:t>firstName</a:t>
            </a:r>
            <a:r>
              <a:rPr lang="en-US" b="1" dirty="0"/>
              <a:t> = "John ";</a:t>
            </a:r>
          </a:p>
          <a:p>
            <a:r>
              <a:rPr lang="en-US" b="1" dirty="0"/>
              <a:t>    String </a:t>
            </a:r>
            <a:r>
              <a:rPr lang="en-US" b="1" dirty="0" err="1"/>
              <a:t>lastName</a:t>
            </a:r>
            <a:r>
              <a:rPr lang="en-US" b="1" dirty="0"/>
              <a:t> = "Doe";</a:t>
            </a:r>
          </a:p>
          <a:p>
            <a:r>
              <a:rPr lang="en-US" b="1" dirty="0"/>
              <a:t>    String </a:t>
            </a:r>
            <a:r>
              <a:rPr lang="en-US" b="1" dirty="0" err="1"/>
              <a:t>fullName</a:t>
            </a:r>
            <a:r>
              <a:rPr lang="en-US" b="1" dirty="0"/>
              <a:t> = </a:t>
            </a:r>
            <a:r>
              <a:rPr lang="en-US" b="1" dirty="0" err="1"/>
              <a:t>firstName</a:t>
            </a:r>
            <a:r>
              <a:rPr lang="en-US" b="1" dirty="0"/>
              <a:t> + </a:t>
            </a:r>
            <a:r>
              <a:rPr lang="en-US" b="1" dirty="0" err="1"/>
              <a:t>lastName</a:t>
            </a:r>
            <a:r>
              <a:rPr lang="en-US" b="1" dirty="0"/>
              <a:t>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fullName</a:t>
            </a:r>
            <a:r>
              <a:rPr lang="en-US" b="1" dirty="0"/>
              <a:t>);  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684FB1-99B2-41B7-A866-217403B63F52}"/>
              </a:ext>
            </a:extLst>
          </p:cNvPr>
          <p:cNvSpPr/>
          <p:nvPr/>
        </p:nvSpPr>
        <p:spPr>
          <a:xfrm>
            <a:off x="8543182" y="5740954"/>
            <a:ext cx="12016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John Doe</a:t>
            </a:r>
            <a:endParaRPr lang="en-US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FEA360-28A9-4A6D-80A9-C1A432281CD1}"/>
              </a:ext>
            </a:extLst>
          </p:cNvPr>
          <p:cNvSpPr/>
          <p:nvPr/>
        </p:nvSpPr>
        <p:spPr>
          <a:xfrm>
            <a:off x="8543182" y="4957818"/>
            <a:ext cx="12016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Output</a:t>
            </a: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7B2C56-96BC-4900-ABD8-A61C815124A1}"/>
              </a:ext>
            </a:extLst>
          </p:cNvPr>
          <p:cNvSpPr/>
          <p:nvPr/>
        </p:nvSpPr>
        <p:spPr>
          <a:xfrm>
            <a:off x="8438728" y="2148101"/>
            <a:ext cx="12016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09692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numeric values, the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 works as a mathematical operator (notice that we 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(integer) variables here):-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Cont.…..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98C7FD-FF57-423E-8E2E-76A98703965E}"/>
              </a:ext>
            </a:extLst>
          </p:cNvPr>
          <p:cNvSpPr/>
          <p:nvPr/>
        </p:nvSpPr>
        <p:spPr>
          <a:xfrm>
            <a:off x="842481" y="1940727"/>
            <a:ext cx="52535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int x = 5;</a:t>
            </a:r>
          </a:p>
          <a:p>
            <a:r>
              <a:rPr lang="en-US" b="1" dirty="0"/>
              <a:t>    int y = 6;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(x + y); // Print the value of x + y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36432B-7400-48F3-8798-484F5CC95986}"/>
              </a:ext>
            </a:extLst>
          </p:cNvPr>
          <p:cNvSpPr/>
          <p:nvPr/>
        </p:nvSpPr>
        <p:spPr>
          <a:xfrm>
            <a:off x="8125358" y="3064805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11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C71C9A-6A64-4924-B264-266B0022E184}"/>
              </a:ext>
            </a:extLst>
          </p:cNvPr>
          <p:cNvSpPr/>
          <p:nvPr/>
        </p:nvSpPr>
        <p:spPr>
          <a:xfrm>
            <a:off x="8125358" y="214810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 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13493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F8094-1B2B-4021-8A19-0DA79A6D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047964"/>
            <a:ext cx="11558427" cy="547612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Declare Many Variables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declare more than one variable of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type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can use a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comma-separated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list: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/>
              <a:t>One Value to Multiple Variables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also assign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value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multiple variables in one line: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Horizontal Scroll 1">
            <a:extLst>
              <a:ext uri="{FF2B5EF4-FFF2-40B4-BE49-F238E27FC236}">
                <a16:creationId xmlns:a16="http://schemas.microsoft.com/office/drawing/2014/main" id="{9AA173C7-5A06-45C5-A9EB-3910A163DE75}"/>
              </a:ext>
            </a:extLst>
          </p:cNvPr>
          <p:cNvSpPr/>
          <p:nvPr/>
        </p:nvSpPr>
        <p:spPr>
          <a:xfrm>
            <a:off x="1913610" y="-52173"/>
            <a:ext cx="8364780" cy="1100137"/>
          </a:xfrm>
          <a:prstGeom prst="horizontalScroll">
            <a:avLst/>
          </a:prstGeom>
          <a:solidFill>
            <a:schemeClr val="tx2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rial Black" panose="020B0A04020102020204" pitchFamily="34" charset="0"/>
              </a:rPr>
              <a:t>Java Declare Multiple Variables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F12150-2E3D-41F2-809E-226B49359F15}"/>
              </a:ext>
            </a:extLst>
          </p:cNvPr>
          <p:cNvSpPr/>
          <p:nvPr/>
        </p:nvSpPr>
        <p:spPr>
          <a:xfrm>
            <a:off x="1383587" y="2233339"/>
            <a:ext cx="433911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int x = 5, y = 6, z = 50;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(x + y + z);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2FAFE1-8135-4DFC-B956-84982CC34F1C}"/>
              </a:ext>
            </a:extLst>
          </p:cNvPr>
          <p:cNvSpPr/>
          <p:nvPr/>
        </p:nvSpPr>
        <p:spPr>
          <a:xfrm>
            <a:off x="8252091" y="2925836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61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72C99-3B05-4133-AAD9-D928B0189687}"/>
              </a:ext>
            </a:extLst>
          </p:cNvPr>
          <p:cNvSpPr/>
          <p:nvPr/>
        </p:nvSpPr>
        <p:spPr>
          <a:xfrm>
            <a:off x="4034319" y="4849874"/>
            <a:ext cx="433911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public class Main {</a:t>
            </a:r>
          </a:p>
          <a:p>
            <a:r>
              <a:rPr lang="en-US" b="1" dirty="0"/>
              <a:t>  public static void main(String[] </a:t>
            </a:r>
            <a:r>
              <a:rPr lang="en-US" b="1" dirty="0" err="1"/>
              <a:t>args</a:t>
            </a:r>
            <a:r>
              <a:rPr lang="en-US" b="1" dirty="0"/>
              <a:t>) {</a:t>
            </a:r>
          </a:p>
          <a:p>
            <a:r>
              <a:rPr lang="en-US" b="1" dirty="0"/>
              <a:t>    int x, y, z;</a:t>
            </a:r>
          </a:p>
          <a:p>
            <a:r>
              <a:rPr lang="en-US" b="1" dirty="0"/>
              <a:t>    x = y = z = 50;</a:t>
            </a:r>
          </a:p>
          <a:p>
            <a:r>
              <a:rPr lang="en-US" b="1" dirty="0"/>
              <a:t>    </a:t>
            </a:r>
            <a:r>
              <a:rPr lang="en-US" b="1" dirty="0" err="1"/>
              <a:t>System.out.println</a:t>
            </a:r>
            <a:r>
              <a:rPr lang="en-US" b="1" dirty="0"/>
              <a:t>(x + y + z);</a:t>
            </a:r>
          </a:p>
          <a:p>
            <a:r>
              <a:rPr lang="en-US" b="1" dirty="0"/>
              <a:t>  }</a:t>
            </a:r>
          </a:p>
          <a:p>
            <a:r>
              <a:rPr lang="en-US" b="1" dirty="0"/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6B8EFD-D3B4-40A6-B477-51E93A278FBA}"/>
              </a:ext>
            </a:extLst>
          </p:cNvPr>
          <p:cNvSpPr/>
          <p:nvPr/>
        </p:nvSpPr>
        <p:spPr>
          <a:xfrm>
            <a:off x="10278390" y="5810036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150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33CEE4-DA43-4D82-AFFF-5B3DA1AADBF3}"/>
              </a:ext>
            </a:extLst>
          </p:cNvPr>
          <p:cNvSpPr/>
          <p:nvPr/>
        </p:nvSpPr>
        <p:spPr>
          <a:xfrm>
            <a:off x="7935498" y="239492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 put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7981C3-A02A-4639-A5E5-B527E53CFECB}"/>
              </a:ext>
            </a:extLst>
          </p:cNvPr>
          <p:cNvSpPr/>
          <p:nvPr/>
        </p:nvSpPr>
        <p:spPr>
          <a:xfrm>
            <a:off x="10019439" y="5136408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Out 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0349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948623" y="1134987"/>
            <a:ext cx="5317588" cy="914400"/>
          </a:xfrm>
          <a:prstGeom prst="round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0">
            <a:schemeClr val="accent3"/>
          </a:lnRef>
          <a:fillRef idx="1002">
            <a:schemeClr val="dk1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Next Chapter 02 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2016992" y="2922663"/>
            <a:ext cx="8917082" cy="1902158"/>
          </a:xfrm>
          <a:prstGeom prst="roundRect">
            <a:avLst/>
          </a:prstGeom>
          <a:scene3d>
            <a:camera prst="perspectiveHeroicExtremeRightFacing"/>
            <a:lightRig rig="threePt" dir="t"/>
          </a:scene3d>
        </p:spPr>
        <p:style>
          <a:lnRef idx="2">
            <a:schemeClr val="accent4">
              <a:shade val="50000"/>
            </a:schemeClr>
          </a:lnRef>
          <a:fillRef idx="1002">
            <a:schemeClr val="dk1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Variables and Comments.</a:t>
            </a:r>
          </a:p>
        </p:txBody>
      </p:sp>
      <p:sp>
        <p:nvSpPr>
          <p:cNvPr id="5" name="Down Arrow 4"/>
          <p:cNvSpPr/>
          <p:nvPr/>
        </p:nvSpPr>
        <p:spPr>
          <a:xfrm>
            <a:off x="6343650" y="2171700"/>
            <a:ext cx="263767" cy="628650"/>
          </a:xfrm>
          <a:prstGeom prst="down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</TotalTime>
  <Words>1673</Words>
  <Application>Microsoft Office PowerPoint</Application>
  <PresentationFormat>Widescreen</PresentationFormat>
  <Paragraphs>237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Aharoni</vt:lpstr>
      <vt:lpstr>Arial</vt:lpstr>
      <vt:lpstr>Arial Black</vt:lpstr>
      <vt:lpstr>Arial Narrow</vt:lpstr>
      <vt:lpstr>Calibri</vt:lpstr>
      <vt:lpstr>Calibri Light</vt:lpstr>
      <vt:lpstr>Consolas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maxamed</dc:creator>
  <cp:lastModifiedBy>PC</cp:lastModifiedBy>
  <cp:revision>82</cp:revision>
  <dcterms:created xsi:type="dcterms:W3CDTF">2025-08-22T07:58:14Z</dcterms:created>
  <dcterms:modified xsi:type="dcterms:W3CDTF">2025-08-31T05:17:25Z</dcterms:modified>
</cp:coreProperties>
</file>