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2" r:id="rId2"/>
    <p:sldId id="282" r:id="rId3"/>
    <p:sldId id="278" r:id="rId4"/>
    <p:sldId id="283" r:id="rId5"/>
    <p:sldId id="284" r:id="rId6"/>
    <p:sldId id="285" r:id="rId7"/>
    <p:sldId id="286" r:id="rId8"/>
    <p:sldId id="302" r:id="rId9"/>
    <p:sldId id="287" r:id="rId10"/>
    <p:sldId id="300" r:id="rId11"/>
    <p:sldId id="303" r:id="rId12"/>
    <p:sldId id="288" r:id="rId13"/>
    <p:sldId id="301" r:id="rId14"/>
    <p:sldId id="290" r:id="rId15"/>
    <p:sldId id="291" r:id="rId16"/>
    <p:sldId id="292" r:id="rId17"/>
    <p:sldId id="289" r:id="rId18"/>
    <p:sldId id="299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C0252-F0D6-4B25-91BE-40685E53B551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300FA-0481-4590-AD28-C9AE7CAC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1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300FA-0481-4590-AD28-C9AE7CAC01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73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C24B-7758-40AE-BE08-497B7FB91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3BEE9-C2FB-4BC0-8C01-007831F67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80264-3AC0-4569-A240-D4C21B0F6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46514-7216-4680-9CE9-062E3DD9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736EE-07E0-4602-9099-3E9F856B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5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C274-1BB3-49DB-BD9B-1FE9D2F7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97C38-854D-42E7-8812-600313AB6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65BB2-E46B-471A-99F4-C2610382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C2E4C-C47F-48E8-8DC8-D4EF9815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C9895-DF13-4046-9B56-EC34B623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0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4BFA-CE28-49E5-A5C6-096E32D2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74A7B-E50C-4731-AF4A-D3DE9EE26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A30BE-4E14-4AF5-A246-27B70346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270F1-F0D9-4539-BED7-772006A0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8E769-6E96-480D-9886-E746FA8E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6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7B54-8F8E-45AC-8103-18F22887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38023-B8B2-4A7E-B827-033DC8AE3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21D5F-54D8-4575-87EA-8FD2ACE36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92D93-A43B-45B1-B268-A3DD82F2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C3D7A-01FB-4CD5-A6FC-16E11738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8F971-D584-4C92-9614-D715A861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C0D6-2EA1-430F-80CF-D62CB8B6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47F32-165E-47ED-A40D-413AC3798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17F38-B661-40D6-8793-C2917C80F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6A6E0-E371-4268-A9C1-BEBC55758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53E5E-7380-4717-832C-146FBB816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0C00E-563D-4C4C-B34B-B349904A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D4E11-7AB5-4EE4-BBFE-4B1D8B9E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C6B798-A3BD-45B8-AAAB-6882482A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0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0218-DA74-44D4-9903-E639E859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6A89-F9A1-4B29-83A7-D986635E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96C8F-7ADF-4970-82CF-7D73E4A9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58886-1DA1-485C-815D-4473744F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3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7660D-B5E8-438D-9DED-B72C1190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C3171-9643-498B-A0EA-5AE6734F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AFDF0-3587-4730-9328-CCDC1F6F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2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F421-9817-4610-96D4-64B40167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5B66E-8C83-44A0-9CA7-D25325819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0F69A-000D-43C6-B8AD-861DBB738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131D1-1817-434A-98E9-E4766B0F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C0157-0564-40E9-957D-41651856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49EF5-7AAB-4105-807C-0B56898E3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2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21D7-A53A-4EE2-9940-4CEBAB934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9646B-1E87-470D-AD1A-2E7E1E334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8CFA5-BDDA-4DB4-A85A-550EC6702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1C90E-8056-4700-8FBC-98ED9D1A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A7E51-3A23-410C-88A8-EC4E5969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0FF21-F382-4797-A34B-89EF3BBA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5F35-153A-4C9B-B104-6044E17C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4BB56-63E3-4425-BF41-B3659BE7F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764CB-083E-4585-BC07-852BD927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F544-DA40-463F-9A0E-DEC12EBAA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0FE43-97CA-4357-9A4B-DB263BA9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3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2F36E-55B3-431C-8DD3-0B5F1EF6D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49C8E-D69E-4D49-A648-136C6F8B7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7F271-81D8-4F56-B6E4-F840F7027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5E7C6-C3D0-4C24-A9AE-163E16E2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EDA4-692F-4C63-AA01-B6110ED9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3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F15D1-C04C-498F-AF5F-FA2B15A7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0CBC8-8DDD-4A38-A2E9-01D12A4C3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29C3-5F78-42CB-9A3E-895A7798E9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40ABC-FBEB-4CB0-802E-A8440FD6329C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57909-2088-4295-9A07-AAA7AC0B2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F94C8-7BAE-437B-9988-F87483206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690813" y="337305"/>
            <a:ext cx="2890837" cy="9488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lin ang="2700000" scaled="1"/>
            <a:tileRect/>
          </a:gra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Chapter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55741"/>
            <a:ext cx="12192000" cy="16465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Vertical Scroll 4"/>
          <p:cNvSpPr/>
          <p:nvPr/>
        </p:nvSpPr>
        <p:spPr>
          <a:xfrm>
            <a:off x="1071562" y="1430020"/>
            <a:ext cx="7660061" cy="4247449"/>
          </a:xfrm>
          <a:prstGeom prst="verticalScroll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2400" b="1" dirty="0">
                <a:solidFill>
                  <a:srgbClr val="FFFF00"/>
                </a:solidFill>
                <a:latin typeface="Arial Black" panose="020B0A04020102020204" pitchFamily="34" charset="0"/>
              </a:rPr>
              <a:t>Decision Making or Conditionals.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fontAlgn="base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in programming is similar to decision-making in real life. In programming, we also face situations where we want a certain block of code to be executed when some condition is full filled.</a:t>
            </a:r>
          </a:p>
          <a:p>
            <a:pPr fontAlgn="base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programming language uses control statements to control the flow of execution of a program based on certain conditions. Java provides several control statements to manage program flow, including:</a:t>
            </a:r>
          </a:p>
          <a:p>
            <a:pPr lvl="1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if, if-else, nested-if, if-else-if.</a:t>
            </a:r>
          </a:p>
          <a:p>
            <a:pPr lvl="1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Switch-Case: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multiple fixed-value checks.</a:t>
            </a:r>
          </a:p>
          <a:p>
            <a:pPr lvl="1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Statements: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break, continue, return.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Decision Making in Java (if-else, switch, break, continue, jump)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F720B2-7243-4425-B330-47EB0AEED776}"/>
              </a:ext>
            </a:extLst>
          </p:cNvPr>
          <p:cNvSpPr/>
          <p:nvPr/>
        </p:nvSpPr>
        <p:spPr>
          <a:xfrm>
            <a:off x="2554942" y="4295541"/>
            <a:ext cx="6096000" cy="221599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b="1" dirty="0">
                <a:solidFill>
                  <a:srgbClr val="273239"/>
                </a:solidFill>
                <a:latin typeface="Nunito"/>
              </a:rPr>
              <a:t>Types of Decision-Making Statements</a:t>
            </a:r>
          </a:p>
          <a:p>
            <a:pPr marL="742950" lvl="1" indent="-285750" fontAlgn="base">
              <a:buClr>
                <a:srgbClr val="FF0000"/>
              </a:buClr>
              <a:buSzPct val="142000"/>
              <a:buFont typeface="Times New Roman" panose="02020603050405020304" pitchFamily="18" charset="0"/>
              <a:buChar char="⸫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</a:p>
          <a:p>
            <a:pPr marL="742950" lvl="1" indent="-285750" fontAlgn="base">
              <a:buClr>
                <a:srgbClr val="FF0000"/>
              </a:buClr>
              <a:buSzPct val="142000"/>
              <a:buFont typeface="Times New Roman" panose="02020603050405020304" pitchFamily="18" charset="0"/>
              <a:buChar char="⸫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</a:p>
          <a:p>
            <a:pPr marL="742950" lvl="1" indent="-285750" fontAlgn="base">
              <a:buClr>
                <a:srgbClr val="FF0000"/>
              </a:buClr>
              <a:buSzPct val="142000"/>
              <a:buFont typeface="Times New Roman" panose="02020603050405020304" pitchFamily="18" charset="0"/>
              <a:buChar char="⸫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if-else-if</a:t>
            </a:r>
          </a:p>
          <a:p>
            <a:pPr marL="742950" lvl="1" indent="-285750" fontAlgn="base">
              <a:buClr>
                <a:srgbClr val="FF0000"/>
              </a:buClr>
              <a:buSzPct val="142000"/>
              <a:buFont typeface="Times New Roman" panose="02020603050405020304" pitchFamily="18" charset="0"/>
              <a:buChar char="⸫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switch-case</a:t>
            </a:r>
          </a:p>
          <a:p>
            <a:pPr marL="742950" lvl="1" indent="-285750" fontAlgn="base">
              <a:buClr>
                <a:srgbClr val="FF0000"/>
              </a:buClr>
              <a:buSzPct val="142000"/>
              <a:buFont typeface="Times New Roman" panose="02020603050405020304" pitchFamily="18" charset="0"/>
              <a:buChar char="⸫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nested-if</a:t>
            </a:r>
          </a:p>
          <a:p>
            <a:pPr marL="742950" lvl="1" indent="-285750" fontAlgn="base">
              <a:buClr>
                <a:srgbClr val="FF0000"/>
              </a:buClr>
              <a:buSzPct val="142000"/>
              <a:buFont typeface="Times New Roman" panose="02020603050405020304" pitchFamily="18" charset="0"/>
              <a:buChar char="⸫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- break, continue, return</a:t>
            </a:r>
          </a:p>
        </p:txBody>
      </p:sp>
    </p:spTree>
    <p:extLst>
      <p:ext uri="{BB962C8B-B14F-4D97-AF65-F5344CB8AC3E}">
        <p14:creationId xmlns:p14="http://schemas.microsoft.com/office/powerpoint/2010/main" val="1713493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rizontal Scroll 1"/>
          <p:cNvSpPr/>
          <p:nvPr/>
        </p:nvSpPr>
        <p:spPr>
          <a:xfrm>
            <a:off x="1824953" y="0"/>
            <a:ext cx="8364780" cy="1100137"/>
          </a:xfrm>
          <a:prstGeom prst="horizontalScroll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lnSpc>
                <a:spcPct val="150000"/>
              </a:lnSpc>
            </a:pPr>
            <a:r>
              <a:rPr lang="en-US" sz="4000" b="1" dirty="0"/>
              <a:t>Comparison Operators 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268072"/>
              </p:ext>
            </p:extLst>
          </p:nvPr>
        </p:nvGraphicFramePr>
        <p:xfrm>
          <a:off x="921553" y="1562277"/>
          <a:ext cx="10348894" cy="321520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74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4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1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effectLst/>
                        </a:rPr>
                        <a:t>Operator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0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dirty="0">
                          <a:effectLst/>
                        </a:rPr>
                        <a:t>==</a:t>
                      </a:r>
                      <a:endParaRPr lang="en-US" sz="2800" b="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</a:rPr>
                        <a:t>Equal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0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dirty="0">
                          <a:effectLst/>
                        </a:rPr>
                        <a:t>!=</a:t>
                      </a:r>
                      <a:endParaRPr lang="en-US" sz="2800" b="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24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Equal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0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dirty="0">
                          <a:effectLst/>
                        </a:rPr>
                        <a:t>&gt; </a:t>
                      </a:r>
                      <a:endParaRPr lang="en-US" sz="2800" b="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+mn-lt"/>
                          <a:ea typeface="+mn-ea"/>
                          <a:cs typeface="+mn-cs"/>
                        </a:rPr>
                        <a:t>Greater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0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dirty="0">
                          <a:effectLst/>
                        </a:rPr>
                        <a:t>&lt; </a:t>
                      </a:r>
                      <a:endParaRPr lang="en-US" sz="2800" b="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+mn-lt"/>
                          <a:ea typeface="+mn-ea"/>
                          <a:cs typeface="+mn-cs"/>
                        </a:rPr>
                        <a:t>Less</a:t>
                      </a:r>
                      <a:r>
                        <a:rPr lang="en-US" sz="24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than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0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dirty="0">
                          <a:effectLst/>
                        </a:rPr>
                        <a:t>&gt;=</a:t>
                      </a:r>
                      <a:endParaRPr lang="en-US" sz="2800" b="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+mn-lt"/>
                          <a:ea typeface="+mn-ea"/>
                          <a:cs typeface="+mn-cs"/>
                        </a:rPr>
                        <a:t>Greater</a:t>
                      </a:r>
                      <a:r>
                        <a:rPr lang="en-US" sz="24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or Equal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0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b="0" dirty="0">
                          <a:effectLst/>
                        </a:rPr>
                        <a:t>&lt;=</a:t>
                      </a:r>
                      <a:endParaRPr lang="en-US" sz="2800" b="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+mn-lt"/>
                          <a:ea typeface="+mn-ea"/>
                          <a:cs typeface="+mn-cs"/>
                        </a:rPr>
                        <a:t>Less</a:t>
                      </a:r>
                      <a:r>
                        <a:rPr lang="en-US" sz="24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or Equal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39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The table below demonstrates various control flow statements in programming, their use cases, and examples of their syntax.</a:t>
            </a:r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Syntax.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CBF8BE-E037-4D9D-B28A-DFC42DAC1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050" y="1696412"/>
            <a:ext cx="6585934" cy="489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5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statement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most simple decision-making statement. It is used to decide whether a certain statement or block of statements will be executed or not i.e. if a certain condition is true then a block of statements is executed otherwise not. 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1. Java if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14525F-6277-4C3D-9E6B-F2F32A44B240}"/>
              </a:ext>
            </a:extLst>
          </p:cNvPr>
          <p:cNvSpPr/>
          <p:nvPr/>
        </p:nvSpPr>
        <p:spPr>
          <a:xfrm>
            <a:off x="5402221" y="2474069"/>
            <a:ext cx="1144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Nunito"/>
              </a:rPr>
              <a:t>Syntax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: 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F4B95-D5F8-488D-B07E-C18FAF9BD5DB}"/>
              </a:ext>
            </a:extLst>
          </p:cNvPr>
          <p:cNvSpPr/>
          <p:nvPr/>
        </p:nvSpPr>
        <p:spPr>
          <a:xfrm>
            <a:off x="3266235" y="2993079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sz="2000" b="1" i="1" dirty="0">
                <a:solidFill>
                  <a:srgbClr val="273239"/>
                </a:solidFill>
                <a:latin typeface="Nunito"/>
              </a:rPr>
              <a:t>if (condition) {</a:t>
            </a:r>
          </a:p>
          <a:p>
            <a:pPr fontAlgn="base"/>
            <a:r>
              <a:rPr lang="en-US" sz="2000" b="1" i="1" dirty="0">
                <a:solidFill>
                  <a:srgbClr val="273239"/>
                </a:solidFill>
                <a:latin typeface="Nunito"/>
              </a:rPr>
              <a:t>    </a:t>
            </a:r>
            <a:r>
              <a:rPr lang="en-US" b="1" i="1" dirty="0">
                <a:solidFill>
                  <a:srgbClr val="FF0000"/>
                </a:solidFill>
                <a:latin typeface="Nunito"/>
              </a:rPr>
              <a:t>// code to run if condition is true</a:t>
            </a:r>
          </a:p>
          <a:p>
            <a:pPr fontAlgn="base"/>
            <a:r>
              <a:rPr lang="en-US" sz="2000" b="1" i="1" dirty="0">
                <a:solidFill>
                  <a:srgbClr val="273239"/>
                </a:solidFill>
                <a:latin typeface="Nunito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8AAE83-2067-4BB4-BB5D-D7A288C6D98C}"/>
              </a:ext>
            </a:extLst>
          </p:cNvPr>
          <p:cNvSpPr/>
          <p:nvPr/>
        </p:nvSpPr>
        <p:spPr>
          <a:xfrm>
            <a:off x="2354221" y="436183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/>
              <a:t>Java if Statement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if</a:t>
            </a:r>
            <a:r>
              <a:rPr lang="en-US" dirty="0"/>
              <a:t> statement is used to check a condition (</a:t>
            </a:r>
            <a:r>
              <a:rPr lang="en-US" b="1" dirty="0">
                <a:solidFill>
                  <a:srgbClr val="FF0000"/>
                </a:solidFill>
              </a:rPr>
              <a:t>True/False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If the condition is true, the code inside the if block will run.</a:t>
            </a:r>
          </a:p>
          <a:p>
            <a:endParaRPr lang="en-US" dirty="0"/>
          </a:p>
          <a:p>
            <a:r>
              <a:rPr lang="en-US" dirty="0"/>
              <a:t>If the condition is false, the code inside will be skipped.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4FAA2B-E9AC-4315-8021-EBB2075DBE60}"/>
              </a:ext>
            </a:extLst>
          </p:cNvPr>
          <p:cNvSpPr/>
          <p:nvPr/>
        </p:nvSpPr>
        <p:spPr>
          <a:xfrm>
            <a:off x="246579" y="1955059"/>
            <a:ext cx="5621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Use when you want to run code </a:t>
            </a:r>
            <a:r>
              <a:rPr lang="en-US" b="1" dirty="0"/>
              <a:t>only if</a:t>
            </a:r>
            <a:r>
              <a:rPr lang="en-US" dirty="0"/>
              <a:t> a condition is true.</a:t>
            </a:r>
          </a:p>
        </p:txBody>
      </p:sp>
    </p:spTree>
    <p:extLst>
      <p:ext uri="{BB962C8B-B14F-4D97-AF65-F5344CB8AC3E}">
        <p14:creationId xmlns:p14="http://schemas.microsoft.com/office/powerpoint/2010/main" val="224304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843402" y="497895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DF4023-AD43-4929-A317-8B715D8733C8}"/>
              </a:ext>
            </a:extLst>
          </p:cNvPr>
          <p:cNvSpPr/>
          <p:nvPr/>
        </p:nvSpPr>
        <p:spPr>
          <a:xfrm>
            <a:off x="386994" y="2053054"/>
            <a:ext cx="1003181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ChapterThreeCondtionals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  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// condition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"You are an adult."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 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// runs if true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646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Use when you want to do one thing if true, and a different thing if false.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 Black" panose="020B0A04020102020204" pitchFamily="34" charset="0"/>
              </a:rPr>
              <a:t>2. Java if-else Statement</a:t>
            </a:r>
            <a:r>
              <a:rPr lang="en-US" sz="4000" dirty="0">
                <a:latin typeface="Arial Black" panose="020B0A04020102020204" pitchFamily="34" charset="0"/>
              </a:rPr>
              <a:t>.</a:t>
            </a:r>
            <a:endParaRPr lang="en-US" sz="2800" b="1" dirty="0"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C1010D-138F-479A-AB93-0C31BDE59C42}"/>
              </a:ext>
            </a:extLst>
          </p:cNvPr>
          <p:cNvSpPr/>
          <p:nvPr/>
        </p:nvSpPr>
        <p:spPr>
          <a:xfrm>
            <a:off x="4049723" y="1501021"/>
            <a:ext cx="12850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Nunito"/>
              </a:rPr>
              <a:t>Syntax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: 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FC09EB-0177-4579-B5B5-E2D057B7DA53}"/>
              </a:ext>
            </a:extLst>
          </p:cNvPr>
          <p:cNvSpPr/>
          <p:nvPr/>
        </p:nvSpPr>
        <p:spPr>
          <a:xfrm>
            <a:off x="2062499" y="2024241"/>
            <a:ext cx="63472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 </a:t>
            </a:r>
            <a:r>
              <a:rPr lang="en-US" sz="2000" b="1" kern="1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if </a:t>
            </a:r>
            <a:r>
              <a:rPr lang="en-US" sz="2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(expression/condition) {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	</a:t>
            </a:r>
            <a:r>
              <a:rPr lang="en-US" b="1" kern="1200" dirty="0">
                <a:solidFill>
                  <a:srgbClr val="4BACC6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Code to execute if condition is true.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}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else </a:t>
            </a:r>
            <a:r>
              <a:rPr lang="en-US" sz="2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{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	 </a:t>
            </a:r>
            <a:r>
              <a:rPr lang="en-US" b="1" kern="1200" dirty="0">
                <a:solidFill>
                  <a:srgbClr val="4BACC6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Code to execute if condition is true.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}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ACED2-0FFF-4633-9D9C-3D40BF573972}"/>
              </a:ext>
            </a:extLst>
          </p:cNvPr>
          <p:cNvSpPr/>
          <p:nvPr/>
        </p:nvSpPr>
        <p:spPr>
          <a:xfrm>
            <a:off x="386994" y="434131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/>
              <a:t>How it works:</a:t>
            </a:r>
          </a:p>
          <a:p>
            <a:endParaRPr lang="en-US" dirty="0"/>
          </a:p>
          <a:p>
            <a:r>
              <a:rPr lang="en-US" dirty="0"/>
              <a:t>Java checks the condition inside </a:t>
            </a:r>
            <a:r>
              <a:rPr lang="en-US" b="1" dirty="0">
                <a:solidFill>
                  <a:srgbClr val="FF0000"/>
                </a:solidFill>
              </a:rPr>
              <a:t>if</a:t>
            </a:r>
            <a:r>
              <a:rPr lang="en-US" dirty="0"/>
              <a:t> → (age &gt;= 18).</a:t>
            </a:r>
          </a:p>
          <a:p>
            <a:endParaRPr lang="en-US" dirty="0"/>
          </a:p>
          <a:p>
            <a:r>
              <a:rPr lang="en-US" dirty="0"/>
              <a:t>If the condition is true, the if block runs.</a:t>
            </a:r>
          </a:p>
          <a:p>
            <a:endParaRPr lang="en-US" dirty="0"/>
          </a:p>
          <a:p>
            <a:r>
              <a:rPr lang="en-US" dirty="0"/>
              <a:t>If the condition is false, the else block runs.</a:t>
            </a:r>
          </a:p>
        </p:txBody>
      </p:sp>
    </p:spTree>
    <p:extLst>
      <p:ext uri="{BB962C8B-B14F-4D97-AF65-F5344CB8AC3E}">
        <p14:creationId xmlns:p14="http://schemas.microsoft.com/office/powerpoint/2010/main" val="1578904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 Black" panose="020B0A04020102020204" pitchFamily="34" charset="0"/>
              </a:rPr>
              <a:t>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2FDDC9-A29B-451C-8462-7B4158E20925}"/>
              </a:ext>
            </a:extLst>
          </p:cNvPr>
          <p:cNvSpPr/>
          <p:nvPr/>
        </p:nvSpPr>
        <p:spPr>
          <a:xfrm>
            <a:off x="842955" y="1706556"/>
            <a:ext cx="769169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ChapterThreeCondtionals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"Adult"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"Not adult"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432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Use when you have several choices to check in order or multiple conditions.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475874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4. if - else if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E32825-B836-4CAE-9681-A99F0B27756C}"/>
              </a:ext>
            </a:extLst>
          </p:cNvPr>
          <p:cNvSpPr/>
          <p:nvPr/>
        </p:nvSpPr>
        <p:spPr>
          <a:xfrm>
            <a:off x="562788" y="1622424"/>
            <a:ext cx="7730608" cy="45444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        </a:t>
            </a:r>
            <a:r>
              <a:rPr lang="en-US" b="1" u="sng" kern="1200" dirty="0">
                <a:solidFill>
                  <a:srgbClr val="002060"/>
                </a:solidFill>
                <a:effectLst/>
                <a:latin typeface="Arial Black" panose="020B0A04020102020204" pitchFamily="34" charset="0"/>
                <a:ea typeface="MS Mincho" panose="02020609040205080304" pitchFamily="49" charset="-128"/>
              </a:rPr>
              <a:t>Syntax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 else if statement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 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(condition1) {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</a:t>
            </a:r>
            <a:r>
              <a:rPr lang="en-US" kern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// code if condition1 is true.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elseif</a:t>
            </a: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(condition2) {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</a:t>
            </a:r>
            <a:r>
              <a:rPr lang="en-US" kern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// code if condition2 is true.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elseif</a:t>
            </a: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(condition3) {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</a:t>
            </a:r>
            <a:r>
              <a:rPr lang="en-US" kern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// code if condition3 is true.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else</a:t>
            </a: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{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</a:t>
            </a:r>
            <a:r>
              <a:rPr lang="en-US" kern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// code if none of the above conditions are true.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89DECD-E43E-4274-BFED-D7B529C6D1B4}"/>
              </a:ext>
            </a:extLst>
          </p:cNvPr>
          <p:cNvSpPr/>
          <p:nvPr/>
        </p:nvSpPr>
        <p:spPr>
          <a:xfrm>
            <a:off x="6322828" y="1305341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How it works</a:t>
            </a:r>
          </a:p>
          <a:p>
            <a:endParaRPr lang="en-US" dirty="0"/>
          </a:p>
          <a:p>
            <a:r>
              <a:rPr lang="en-US" dirty="0"/>
              <a:t>Java checks conditions from top to bottom.</a:t>
            </a:r>
          </a:p>
          <a:p>
            <a:endParaRPr lang="en-US" dirty="0"/>
          </a:p>
          <a:p>
            <a:r>
              <a:rPr lang="en-US" dirty="0"/>
              <a:t>If one condition is true, its block runs, and Java skips the rest.</a:t>
            </a:r>
          </a:p>
          <a:p>
            <a:endParaRPr lang="en-US" dirty="0"/>
          </a:p>
          <a:p>
            <a:r>
              <a:rPr lang="en-US" dirty="0"/>
              <a:t>If none are true, the else block runs.</a:t>
            </a:r>
          </a:p>
          <a:p>
            <a:endParaRPr lang="en-US" dirty="0"/>
          </a:p>
          <a:p>
            <a:r>
              <a:rPr lang="en-US" dirty="0"/>
              <a:t>👉 In the example:</a:t>
            </a:r>
          </a:p>
          <a:p>
            <a:endParaRPr lang="en-US" dirty="0"/>
          </a:p>
          <a:p>
            <a:r>
              <a:rPr lang="en-US" dirty="0"/>
              <a:t>marks = 75 → first condition (marks &gt;= 90) is false.</a:t>
            </a:r>
          </a:p>
          <a:p>
            <a:endParaRPr lang="en-US" dirty="0"/>
          </a:p>
          <a:p>
            <a:r>
              <a:rPr lang="en-US" dirty="0"/>
              <a:t>Second condition (marks &gt;= 75) is true → so it prints "Grade B".</a:t>
            </a:r>
          </a:p>
          <a:p>
            <a:endParaRPr lang="en-US" dirty="0"/>
          </a:p>
          <a:p>
            <a:r>
              <a:rPr lang="en-US" dirty="0"/>
              <a:t>The rest are skipped.</a:t>
            </a:r>
          </a:p>
        </p:txBody>
      </p:sp>
    </p:spTree>
    <p:extLst>
      <p:ext uri="{BB962C8B-B14F-4D97-AF65-F5344CB8AC3E}">
        <p14:creationId xmlns:p14="http://schemas.microsoft.com/office/powerpoint/2010/main" val="350308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475874" y="-52172"/>
            <a:ext cx="8364780" cy="711452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Example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7429E-9EBC-4DDC-8AF9-591D8EC71865}"/>
              </a:ext>
            </a:extLst>
          </p:cNvPr>
          <p:cNvSpPr/>
          <p:nvPr/>
        </p:nvSpPr>
        <p:spPr>
          <a:xfrm>
            <a:off x="246580" y="750880"/>
            <a:ext cx="6328882" cy="5864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ChapterThreeCondtionals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score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85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score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"Grade 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score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"Grade B"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score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"Grade C"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"Fail or lower grade"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E99B29-FAA8-4344-B51F-D426F0B93287}"/>
              </a:ext>
            </a:extLst>
          </p:cNvPr>
          <p:cNvSpPr/>
          <p:nvPr/>
        </p:nvSpPr>
        <p:spPr>
          <a:xfrm>
            <a:off x="6226141" y="956363"/>
            <a:ext cx="6493266" cy="5033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ChapterThreeCondtionals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qaan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gaadh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150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wali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caruur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40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C3976B-13D6-47A7-BC8B-2B37A9292C0F}"/>
              </a:ext>
            </a:extLst>
          </p:cNvPr>
          <p:cNvSpPr/>
          <p:nvPr/>
        </p:nvSpPr>
        <p:spPr>
          <a:xfrm>
            <a:off x="349322" y="558675"/>
            <a:ext cx="1074676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ChapterThreeConditionals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E36209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marks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(marks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||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marks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"Invalid marks! Please enter between 0 and 100."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}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(marks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"Grade A"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}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(marks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80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"Grade B"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}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(marks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70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"Grade C"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}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(marks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60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"Grade D"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}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"Fail"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571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switch statement evaluates its expression, then executes all statements that follow the matching case label.</a:t>
            </a:r>
          </a:p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b="1" dirty="0"/>
              <a:t>switch statement</a:t>
            </a:r>
            <a:r>
              <a:rPr lang="en-US" sz="2000" dirty="0"/>
              <a:t> checks a value, then runs the code under the case that matches 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843402" y="0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5. switch-case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A67A1-A42C-4540-B590-A75272921693}"/>
              </a:ext>
            </a:extLst>
          </p:cNvPr>
          <p:cNvSpPr/>
          <p:nvPr/>
        </p:nvSpPr>
        <p:spPr>
          <a:xfrm>
            <a:off x="1331433" y="2137793"/>
            <a:ext cx="4941777" cy="43650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Syntax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switch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(variable){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</a:t>
            </a:r>
            <a:r>
              <a:rPr lang="en-US" sz="2000" kern="120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case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value1: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    </a:t>
            </a:r>
            <a:r>
              <a:rPr lang="en-US" sz="2000" kern="1200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code if variable ==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value1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     </a:t>
            </a:r>
            <a:r>
              <a:rPr lang="en-US" sz="2000" kern="120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break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</a:t>
            </a:r>
            <a:r>
              <a:rPr lang="en-US" sz="2000" kern="120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case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value2: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    </a:t>
            </a:r>
            <a:r>
              <a:rPr lang="en-US" sz="2000" kern="1200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code if variable ==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value2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    </a:t>
            </a:r>
            <a:r>
              <a:rPr lang="en-US" sz="2000" kern="120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break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</a:t>
            </a:r>
            <a:r>
              <a:rPr lang="en-US" sz="2000" kern="120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default</a:t>
            </a: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       </a:t>
            </a:r>
            <a:r>
              <a:rPr lang="en-US" sz="2000" kern="1200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// code if no match is found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</a:t>
            </a:r>
            <a:endParaRPr lang="en-US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976D31-59BB-43F5-9578-AAE014388A6F}"/>
              </a:ext>
            </a:extLst>
          </p:cNvPr>
          <p:cNvSpPr/>
          <p:nvPr/>
        </p:nvSpPr>
        <p:spPr>
          <a:xfrm>
            <a:off x="6096000" y="2393716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b="1" dirty="0"/>
              <a:t>How it works</a:t>
            </a:r>
          </a:p>
          <a:p>
            <a:endParaRPr lang="en-US" dirty="0"/>
          </a:p>
          <a:p>
            <a:r>
              <a:rPr lang="en-US" dirty="0"/>
              <a:t>Java evaluates the expression inside switch.</a:t>
            </a:r>
          </a:p>
          <a:p>
            <a:endParaRPr lang="en-US" dirty="0"/>
          </a:p>
          <a:p>
            <a:r>
              <a:rPr lang="en-US" dirty="0"/>
              <a:t>It compares the result with each case.</a:t>
            </a:r>
          </a:p>
          <a:p>
            <a:endParaRPr lang="en-US" dirty="0"/>
          </a:p>
          <a:p>
            <a:r>
              <a:rPr lang="en-US" dirty="0"/>
              <a:t>If a match is found → the code under that case runs.</a:t>
            </a:r>
          </a:p>
          <a:p>
            <a:endParaRPr lang="en-US" dirty="0"/>
          </a:p>
          <a:p>
            <a:r>
              <a:rPr lang="en-US" dirty="0"/>
              <a:t>The break statement stops the switch (so the program doesn’t “fall through” to the next case).</a:t>
            </a:r>
          </a:p>
          <a:p>
            <a:endParaRPr lang="en-US" dirty="0"/>
          </a:p>
          <a:p>
            <a:r>
              <a:rPr lang="en-US" dirty="0"/>
              <a:t>If no case matches → the default block runs (optional).</a:t>
            </a:r>
          </a:p>
        </p:txBody>
      </p:sp>
    </p:spTree>
    <p:extLst>
      <p:ext uri="{BB962C8B-B14F-4D97-AF65-F5344CB8AC3E}">
        <p14:creationId xmlns:p14="http://schemas.microsoft.com/office/powerpoint/2010/main" val="639408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843402" y="0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774842-1AB6-4593-A979-53025156A806}"/>
              </a:ext>
            </a:extLst>
          </p:cNvPr>
          <p:cNvSpPr/>
          <p:nvPr/>
        </p:nvSpPr>
        <p:spPr>
          <a:xfrm>
            <a:off x="1983818" y="1100137"/>
            <a:ext cx="9961603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ChapterThreeCondtionals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day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switch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day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"Monday"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"Tuesday"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"Wednesday"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default: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"Other day"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288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change the normal flow of the program.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a) break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Stops the loop or switch immediately.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099F7-E453-473D-92D1-AAD894EDF4A1}"/>
              </a:ext>
            </a:extLst>
          </p:cNvPr>
          <p:cNvSpPr/>
          <p:nvPr/>
        </p:nvSpPr>
        <p:spPr>
          <a:xfrm>
            <a:off x="1122947" y="449276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ChapterThreeCondtionals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}   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1CC5A7-013C-42CF-84DE-5FD02D28E39D}"/>
              </a:ext>
            </a:extLst>
          </p:cNvPr>
          <p:cNvSpPr/>
          <p:nvPr/>
        </p:nvSpPr>
        <p:spPr>
          <a:xfrm>
            <a:off x="5060478" y="2792464"/>
            <a:ext cx="776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break;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2F2676-83F5-4229-A633-FA864B72757A}"/>
              </a:ext>
            </a:extLst>
          </p:cNvPr>
          <p:cNvSpPr/>
          <p:nvPr/>
        </p:nvSpPr>
        <p:spPr>
          <a:xfrm>
            <a:off x="5000208" y="2101934"/>
            <a:ext cx="1029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E1FA5-9262-4850-AAEE-58CA63E602A2}"/>
              </a:ext>
            </a:extLst>
          </p:cNvPr>
          <p:cNvSpPr/>
          <p:nvPr/>
        </p:nvSpPr>
        <p:spPr>
          <a:xfrm>
            <a:off x="3141819" y="3555194"/>
            <a:ext cx="1269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41479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b) continue.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Skips the current loop iteration, moves to the next.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000DF-1709-4518-B40E-C1110A31E68A}"/>
              </a:ext>
            </a:extLst>
          </p:cNvPr>
          <p:cNvSpPr/>
          <p:nvPr/>
        </p:nvSpPr>
        <p:spPr>
          <a:xfrm>
            <a:off x="536748" y="421576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ChapterThreeCondtionals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continue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}   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BF588B-4419-4ECE-B366-ACFED7A03BC5}"/>
              </a:ext>
            </a:extLst>
          </p:cNvPr>
          <p:cNvSpPr/>
          <p:nvPr/>
        </p:nvSpPr>
        <p:spPr>
          <a:xfrm>
            <a:off x="3496533" y="1963435"/>
            <a:ext cx="11696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7A8693-218A-430D-894F-481509422280}"/>
              </a:ext>
            </a:extLst>
          </p:cNvPr>
          <p:cNvSpPr/>
          <p:nvPr/>
        </p:nvSpPr>
        <p:spPr>
          <a:xfrm>
            <a:off x="3496532" y="2642234"/>
            <a:ext cx="1087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continue;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3D5BD0-2CEB-42C3-9F8A-4E762CB4A7CB}"/>
              </a:ext>
            </a:extLst>
          </p:cNvPr>
          <p:cNvSpPr/>
          <p:nvPr/>
        </p:nvSpPr>
        <p:spPr>
          <a:xfrm>
            <a:off x="2723901" y="3524417"/>
            <a:ext cx="1450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92678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c) return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Ends a method immediately and optionally sends back a value.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A9376B-0381-4D46-AC40-B6E7362C80E8}"/>
              </a:ext>
            </a:extLst>
          </p:cNvPr>
          <p:cNvSpPr/>
          <p:nvPr/>
        </p:nvSpPr>
        <p:spPr>
          <a:xfrm>
            <a:off x="3627668" y="4275161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ChapterThreeCondtionals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exits method and gives result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A4A774-A7FA-4C89-806D-23A268776BDF}"/>
              </a:ext>
            </a:extLst>
          </p:cNvPr>
          <p:cNvSpPr/>
          <p:nvPr/>
        </p:nvSpPr>
        <p:spPr>
          <a:xfrm>
            <a:off x="1346791" y="294315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return;       // for methods with void return type</a:t>
            </a:r>
          </a:p>
          <a:p>
            <a:r>
              <a:rPr lang="en-US" dirty="0"/>
              <a:t>return value; // for methods that return a value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124EE3-E02C-4C2C-9970-5D92C519BD3F}"/>
              </a:ext>
            </a:extLst>
          </p:cNvPr>
          <p:cNvSpPr/>
          <p:nvPr/>
        </p:nvSpPr>
        <p:spPr>
          <a:xfrm>
            <a:off x="3326412" y="2253658"/>
            <a:ext cx="11696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06FB0D-8F85-4B2E-B8EA-810BD9CE8264}"/>
              </a:ext>
            </a:extLst>
          </p:cNvPr>
          <p:cNvSpPr/>
          <p:nvPr/>
        </p:nvSpPr>
        <p:spPr>
          <a:xfrm>
            <a:off x="6025792" y="3677157"/>
            <a:ext cx="1450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823701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inside another if. Used when you want to check more than one condition step by step.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2298620" y="-216159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nested-if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9F12D-2E25-4AE7-8E12-B8986A38E1B5}"/>
              </a:ext>
            </a:extLst>
          </p:cNvPr>
          <p:cNvSpPr/>
          <p:nvPr/>
        </p:nvSpPr>
        <p:spPr>
          <a:xfrm>
            <a:off x="4049723" y="1501021"/>
            <a:ext cx="126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Nunito"/>
              </a:rPr>
              <a:t>Syntax:-</a:t>
            </a:r>
            <a:r>
              <a:rPr lang="en-US" dirty="0">
                <a:solidFill>
                  <a:schemeClr val="bg1"/>
                </a:solidFill>
                <a:latin typeface="Nunito"/>
              </a:rPr>
              <a:t>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6250BA-5249-4BC0-986E-31336EEE76E3}"/>
              </a:ext>
            </a:extLst>
          </p:cNvPr>
          <p:cNvSpPr/>
          <p:nvPr/>
        </p:nvSpPr>
        <p:spPr>
          <a:xfrm>
            <a:off x="464289" y="2393716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if (condition1) {</a:t>
            </a:r>
          </a:p>
          <a:p>
            <a:r>
              <a:rPr lang="en-US" dirty="0">
                <a:solidFill>
                  <a:schemeClr val="bg1"/>
                </a:solidFill>
              </a:rPr>
              <a:t>    // runs if condition1 is true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if (condition2) {</a:t>
            </a:r>
          </a:p>
          <a:p>
            <a:r>
              <a:rPr lang="en-US" dirty="0">
                <a:solidFill>
                  <a:schemeClr val="bg1"/>
                </a:solidFill>
              </a:rPr>
              <a:t>        // runs if condition1 AND condition2 are true</a:t>
            </a:r>
          </a:p>
          <a:p>
            <a:r>
              <a:rPr lang="en-US" dirty="0">
                <a:solidFill>
                  <a:schemeClr val="bg1"/>
                </a:solidFill>
              </a:rPr>
              <a:t>    } else {</a:t>
            </a:r>
          </a:p>
          <a:p>
            <a:r>
              <a:rPr lang="en-US" dirty="0">
                <a:solidFill>
                  <a:schemeClr val="bg1"/>
                </a:solidFill>
              </a:rPr>
              <a:t>        // runs if condition1 is true but condition2 is false</a:t>
            </a:r>
          </a:p>
          <a:p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} else {</a:t>
            </a:r>
          </a:p>
          <a:p>
            <a:r>
              <a:rPr lang="en-US" dirty="0">
                <a:solidFill>
                  <a:schemeClr val="bg1"/>
                </a:solidFill>
              </a:rPr>
              <a:t>    // runs if condition1 is false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A0126D-8200-4F49-9870-372F5EDE8F63}"/>
              </a:ext>
            </a:extLst>
          </p:cNvPr>
          <p:cNvSpPr/>
          <p:nvPr/>
        </p:nvSpPr>
        <p:spPr>
          <a:xfrm>
            <a:off x="6519273" y="2659254"/>
            <a:ext cx="542614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it works: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Java checks the outer if (age &gt;= 18).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If false → it skips inside and goes to the else.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If true → it enters the inner if.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Inside, it checks the inner if (</a:t>
            </a:r>
            <a:r>
              <a:rPr lang="en-US" dirty="0" err="1">
                <a:solidFill>
                  <a:schemeClr val="bg1"/>
                </a:solidFill>
              </a:rPr>
              <a:t>hasID</a:t>
            </a:r>
            <a:r>
              <a:rPr lang="en-US" dirty="0">
                <a:solidFill>
                  <a:schemeClr val="bg1"/>
                </a:solidFill>
              </a:rPr>
              <a:t>).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If true → "You can enter."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If false → "You need an ID."</a:t>
            </a:r>
          </a:p>
        </p:txBody>
      </p:sp>
    </p:spTree>
    <p:extLst>
      <p:ext uri="{BB962C8B-B14F-4D97-AF65-F5344CB8AC3E}">
        <p14:creationId xmlns:p14="http://schemas.microsoft.com/office/powerpoint/2010/main" val="1930065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90396" y="-87290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 Black" panose="020B0A04020102020204" pitchFamily="34" charset="0"/>
              </a:rPr>
              <a:t>Example</a:t>
            </a:r>
            <a:endParaRPr lang="en-US" sz="3600" b="1" dirty="0"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A7C496-F1E2-434A-83AB-C51A3464125B}"/>
              </a:ext>
            </a:extLst>
          </p:cNvPr>
          <p:cNvSpPr/>
          <p:nvPr/>
        </p:nvSpPr>
        <p:spPr>
          <a:xfrm>
            <a:off x="842955" y="1706556"/>
            <a:ext cx="769169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public class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ChapterThreeCondtionals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    public static void main(String[]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        int age = 16;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        if (age &gt;= 18) {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("Adult");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        } else {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("Not adult");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        } else {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("Not adult");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    }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95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948623" y="1134987"/>
            <a:ext cx="5317588" cy="91440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hemeClr val="accent3"/>
          </a:lnRef>
          <a:fillRef idx="1002">
            <a:schemeClr val="dk1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Next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016992" y="2922663"/>
            <a:ext cx="8917082" cy="1902158"/>
          </a:xfrm>
          <a:prstGeom prst="roundRect">
            <a:avLst/>
          </a:prstGeom>
          <a:scene3d>
            <a:camera prst="perspectiveHeroicExtremeRightFacing"/>
            <a:lightRig rig="threePt" dir="t"/>
          </a:scene3d>
        </p:spPr>
        <p:style>
          <a:lnRef idx="2">
            <a:schemeClr val="accent4">
              <a:shade val="50000"/>
            </a:schemeClr>
          </a:lnRef>
          <a:fillRef idx="1002">
            <a:schemeClr val="dk1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6000" dirty="0">
                <a:solidFill>
                  <a:schemeClr val="bg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Loops and Booleans</a:t>
            </a:r>
          </a:p>
        </p:txBody>
      </p:sp>
      <p:sp>
        <p:nvSpPr>
          <p:cNvPr id="5" name="Down Arrow 4"/>
          <p:cNvSpPr/>
          <p:nvPr/>
        </p:nvSpPr>
        <p:spPr>
          <a:xfrm>
            <a:off x="6343650" y="2171700"/>
            <a:ext cx="263767" cy="62865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2200</Words>
  <Application>Microsoft Office PowerPoint</Application>
  <PresentationFormat>Widescreen</PresentationFormat>
  <Paragraphs>287</Paragraphs>
  <Slides>19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MS Mincho</vt:lpstr>
      <vt:lpstr>Aharoni</vt:lpstr>
      <vt:lpstr>Arial</vt:lpstr>
      <vt:lpstr>Arial Black</vt:lpstr>
      <vt:lpstr>Calibri</vt:lpstr>
      <vt:lpstr>Calibri Light</vt:lpstr>
      <vt:lpstr>Cambria</vt:lpstr>
      <vt:lpstr>Consolas</vt:lpstr>
      <vt:lpstr>Nunito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maxamed</dc:creator>
  <cp:lastModifiedBy>PC</cp:lastModifiedBy>
  <cp:revision>250</cp:revision>
  <dcterms:created xsi:type="dcterms:W3CDTF">2025-08-22T07:58:14Z</dcterms:created>
  <dcterms:modified xsi:type="dcterms:W3CDTF">2025-10-25T16:14:28Z</dcterms:modified>
</cp:coreProperties>
</file>