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2" r:id="rId2"/>
    <p:sldId id="282" r:id="rId3"/>
    <p:sldId id="283" r:id="rId4"/>
    <p:sldId id="284" r:id="rId5"/>
    <p:sldId id="285" r:id="rId6"/>
    <p:sldId id="293" r:id="rId7"/>
    <p:sldId id="286" r:id="rId8"/>
    <p:sldId id="292" r:id="rId9"/>
    <p:sldId id="287" r:id="rId10"/>
    <p:sldId id="288" r:id="rId11"/>
    <p:sldId id="289" r:id="rId12"/>
    <p:sldId id="290" r:id="rId13"/>
    <p:sldId id="291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>
      <p:cViewPr varScale="1">
        <p:scale>
          <a:sx n="62" d="100"/>
          <a:sy n="62" d="100"/>
        </p:scale>
        <p:origin x="7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3C0252-F0D6-4B25-91BE-40685E53B551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F300FA-0481-4590-AD28-C9AE7CAC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618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6C24B-7758-40AE-BE08-497B7FB91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83BEE9-C2FB-4BC0-8C01-007831F67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80264-3AC0-4569-A240-D4C21B0F6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46514-7216-4680-9CE9-062E3DD98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736EE-07E0-4602-9099-3E9F856BD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51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FC274-1BB3-49DB-BD9B-1FE9D2F77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97C38-854D-42E7-8812-600313AB6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65BB2-E46B-471A-99F4-C2610382F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C2E4C-C47F-48E8-8DC8-D4EF98156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C9895-DF13-4046-9B56-EC34B623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07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94BFA-CE28-49E5-A5C6-096E32D2C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74A7B-E50C-4731-AF4A-D3DE9EE26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A30BE-4E14-4AF5-A246-27B70346A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270F1-F0D9-4539-BED7-772006A0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8E769-6E96-480D-9886-E746FA8EF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561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B7B54-8F8E-45AC-8103-18F228871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38023-B8B2-4A7E-B827-033DC8AE34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D21D5F-54D8-4575-87EA-8FD2ACE36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92D93-A43B-45B1-B268-A3DD82F29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C3D7A-01FB-4CD5-A6FC-16E117389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8F971-D584-4C92-9614-D715A8616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1C0D6-2EA1-430F-80CF-D62CB8B6C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47F32-165E-47ED-A40D-413AC3798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617F38-B661-40D6-8793-C2917C80F1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36A6E0-E371-4268-A9C1-BEBC55758E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253E5E-7380-4717-832C-146FBB8166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00C00E-563D-4C4C-B34B-B349904AF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7D4E11-7AB5-4EE4-BBFE-4B1D8B9E0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C6B798-A3BD-45B8-AAAB-6882482A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602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10218-DA74-44D4-9903-E639E8591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66A89-F9A1-4B29-83A7-D986635EE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196C8F-7ADF-4970-82CF-7D73E4A9C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58886-1DA1-485C-815D-4473744F5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931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67660D-B5E8-438D-9DED-B72C1190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5C3171-9643-498B-A0EA-5AE6734FF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AFDF0-3587-4730-9328-CCDC1F6F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92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6F421-9817-4610-96D4-64B40167B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5B66E-8C83-44A0-9CA7-D25325819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0F69A-000D-43C6-B8AD-861DBB738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131D1-1817-434A-98E9-E4766B0F7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C0157-0564-40E9-957D-416518566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49EF5-7AAB-4105-807C-0B56898E3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21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C21D7-A53A-4EE2-9940-4CEBAB934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39646B-1E87-470D-AD1A-2E7E1E334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B8CFA5-BDDA-4DB4-A85A-550EC6702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1C90E-8056-4700-8FBC-98ED9D1A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A7E51-3A23-410C-88A8-EC4E5969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0FF21-F382-4797-A34B-89EF3BBAD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41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45F35-153A-4C9B-B104-6044E17CE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14BB56-63E3-4425-BF41-B3659BE7F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764CB-083E-4585-BC07-852BD927A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FF544-DA40-463F-9A0E-DEC12EBAA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0FE43-97CA-4357-9A4B-DB263BA95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36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92F36E-55B3-431C-8DD3-0B5F1EF6D5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649C8E-D69E-4D49-A648-136C6F8B7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7F271-81D8-4F56-B6E4-F840F7027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5E7C6-C3D0-4C24-A9AE-163E16E25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6EDA4-692F-4C63-AA01-B6110ED9D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538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BF15D1-C04C-498F-AF5F-FA2B15A7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0CBC8-8DDD-4A38-A2E9-01D12A4C3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E29C3-5F78-42CB-9A3E-895A7798E9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640ABC-FBEB-4CB0-802E-A8440FD6329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57909-2088-4295-9A07-AAA7AC0B20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F94C8-7BAE-437B-9988-F874832067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5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69546" y="614863"/>
            <a:ext cx="2890837" cy="948832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lin ang="2700000" scaled="1"/>
            <a:tileRect/>
          </a:gra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Chapter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02321"/>
            <a:ext cx="12192000" cy="16465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Vertical Scroll 4"/>
          <p:cNvSpPr/>
          <p:nvPr/>
        </p:nvSpPr>
        <p:spPr>
          <a:xfrm>
            <a:off x="1751619" y="1620504"/>
            <a:ext cx="7660061" cy="4247449"/>
          </a:xfrm>
          <a:prstGeom prst="verticalScroll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US" sz="2400" b="1" dirty="0">
                <a:solidFill>
                  <a:srgbClr val="FFFF00"/>
                </a:solidFill>
                <a:latin typeface="Arial Black" panose="020B0A04020102020204" pitchFamily="34" charset="0"/>
              </a:rPr>
              <a:t>Loops and Booleans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C4A9C7-251F-4F06-AF1A-8CDB3C0FF112}"/>
              </a:ext>
            </a:extLst>
          </p:cNvPr>
          <p:cNvSpPr/>
          <p:nvPr/>
        </p:nvSpPr>
        <p:spPr>
          <a:xfrm>
            <a:off x="-1" y="115844"/>
            <a:ext cx="12192000" cy="16465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047964"/>
            <a:ext cx="11558427" cy="547612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way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a block of code multiple times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until a certain condition is no longer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want your program to do something again and again  instead of writing the same code many times you use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Types of Loops in Java: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loop.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loop.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do...while loop.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loop is like telling your program: “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doing this again and again until I say stop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example:-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want to print “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times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you don’t need to write five lines of code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----&gt;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just use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loop!.</a:t>
            </a: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1913610" y="-52173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Loops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6" name="Picture 5" descr="java programming language java logo ...">
            <a:extLst>
              <a:ext uri="{FF2B5EF4-FFF2-40B4-BE49-F238E27FC236}">
                <a16:creationId xmlns:a16="http://schemas.microsoft.com/office/drawing/2014/main" id="{D2A154C1-55D9-43A0-8EA2-72F5099E7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4863" y="31235"/>
            <a:ext cx="767137" cy="76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java programming language java logo ...">
            <a:extLst>
              <a:ext uri="{FF2B5EF4-FFF2-40B4-BE49-F238E27FC236}">
                <a16:creationId xmlns:a16="http://schemas.microsoft.com/office/drawing/2014/main" id="{D3D6D55F-E5AF-4605-8779-36F73A023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1" y="87423"/>
            <a:ext cx="767137" cy="76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7F3D88-50EB-4BE7-9893-EFAC5A96EE0F}"/>
              </a:ext>
            </a:extLst>
          </p:cNvPr>
          <p:cNvSpPr txBox="1"/>
          <p:nvPr/>
        </p:nvSpPr>
        <p:spPr>
          <a:xfrm>
            <a:off x="6096000" y="2825393"/>
            <a:ext cx="47946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Loop must have:-</a:t>
            </a:r>
          </a:p>
          <a:p>
            <a:pPr lvl="1"/>
            <a:r>
              <a:rPr lang="en-US" sz="1600" dirty="0"/>
              <a:t>Starter, Ending, Driver.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;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&lt;=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;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++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6E49827-1667-4666-BD3C-021BC9B03670}"/>
              </a:ext>
            </a:extLst>
          </p:cNvPr>
          <p:cNvCxnSpPr>
            <a:cxnSpLocks/>
          </p:cNvCxnSpPr>
          <p:nvPr/>
        </p:nvCxnSpPr>
        <p:spPr>
          <a:xfrm flipH="1">
            <a:off x="6493268" y="3657600"/>
            <a:ext cx="616777" cy="565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1D66B4E-D5E5-4605-9194-95B0EBFA595D}"/>
              </a:ext>
            </a:extLst>
          </p:cNvPr>
          <p:cNvCxnSpPr>
            <a:cxnSpLocks/>
          </p:cNvCxnSpPr>
          <p:nvPr/>
        </p:nvCxnSpPr>
        <p:spPr>
          <a:xfrm flipH="1">
            <a:off x="7671371" y="3657600"/>
            <a:ext cx="404117" cy="758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B0C914-78EC-470F-82DD-B8177499CC3F}"/>
              </a:ext>
            </a:extLst>
          </p:cNvPr>
          <p:cNvCxnSpPr>
            <a:cxnSpLocks/>
          </p:cNvCxnSpPr>
          <p:nvPr/>
        </p:nvCxnSpPr>
        <p:spPr>
          <a:xfrm>
            <a:off x="8960778" y="3657600"/>
            <a:ext cx="1148993" cy="565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4DC5D28-410E-4483-81D5-CFA58E419C18}"/>
              </a:ext>
            </a:extLst>
          </p:cNvPr>
          <p:cNvSpPr/>
          <p:nvPr/>
        </p:nvSpPr>
        <p:spPr>
          <a:xfrm>
            <a:off x="5976136" y="4108345"/>
            <a:ext cx="8416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Starter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33D99D-D7C6-4C1B-BABB-BBD2FA34323F}"/>
              </a:ext>
            </a:extLst>
          </p:cNvPr>
          <p:cNvSpPr/>
          <p:nvPr/>
        </p:nvSpPr>
        <p:spPr>
          <a:xfrm>
            <a:off x="7379103" y="4390666"/>
            <a:ext cx="8242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Ending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64B7C3-5462-4B98-AFD0-8D52397823A4}"/>
              </a:ext>
            </a:extLst>
          </p:cNvPr>
          <p:cNvSpPr/>
          <p:nvPr/>
        </p:nvSpPr>
        <p:spPr>
          <a:xfrm>
            <a:off x="9814497" y="4167916"/>
            <a:ext cx="7724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Driver</a:t>
            </a:r>
          </a:p>
        </p:txBody>
      </p:sp>
    </p:spTree>
    <p:extLst>
      <p:ext uri="{BB962C8B-B14F-4D97-AF65-F5344CB8AC3E}">
        <p14:creationId xmlns:p14="http://schemas.microsoft.com/office/powerpoint/2010/main" val="1713493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047964"/>
            <a:ext cx="11558427" cy="547612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loop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we already know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times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want to repeat something.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1913610" y="-52173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1- for loop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030E5E-6782-4FB2-97F5-F9E85A319642}"/>
              </a:ext>
            </a:extLst>
          </p:cNvPr>
          <p:cNvSpPr/>
          <p:nvPr/>
        </p:nvSpPr>
        <p:spPr>
          <a:xfrm>
            <a:off x="486309" y="1836201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ChapterFourLoops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6F42C1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[] </a:t>
            </a:r>
            <a:r>
              <a:rPr lang="en-US" dirty="0" err="1">
                <a:solidFill>
                  <a:srgbClr val="E36209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;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&lt;=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;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++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32F62"/>
                </a:solidFill>
                <a:latin typeface="Consolas" panose="020B0609020204030204" pitchFamily="49" charset="0"/>
              </a:rPr>
              <a:t>"Hello "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+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}  </a:t>
            </a:r>
            <a:endParaRPr lang="en-US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88F3C11-C243-4148-A797-10B62AF1B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309" y="3867526"/>
            <a:ext cx="11219381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letter </a:t>
            </a:r>
            <a:r>
              <a:rPr lang="en-US" altLang="en-US" b="1" dirty="0" err="1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</a:t>
            </a:r>
            <a:r>
              <a:rPr lang="en-US" altLang="en-US" dirty="0">
                <a:latin typeface="Arial" panose="020B0604020202020204" pitchFamily="34" charset="0"/>
              </a:rPr>
              <a:t>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acts as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stand for </a:t>
            </a:r>
            <a:r>
              <a:rPr lang="en-US" altLang="en-US" b="1" dirty="0">
                <a:latin typeface="Arial" panose="020B0604020202020204" pitchFamily="34" charset="0"/>
              </a:rPr>
              <a:t>index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the loop.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It’s very common in programming to use the letter </a:t>
            </a:r>
            <a:r>
              <a:rPr lang="en-US" altLang="en-US" b="1" dirty="0" err="1">
                <a:solidFill>
                  <a:srgbClr val="FF0000"/>
                </a:solidFill>
                <a:latin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</a:rPr>
              <a:t> to represent an index or iteration number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meaning it counts how many times the loop runs.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9280F6-1CEE-4D0A-9B5E-A8A0396BD6BD}"/>
              </a:ext>
            </a:extLst>
          </p:cNvPr>
          <p:cNvSpPr/>
          <p:nvPr/>
        </p:nvSpPr>
        <p:spPr>
          <a:xfrm>
            <a:off x="2472646" y="5323761"/>
            <a:ext cx="82193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Step-by-step explanation:-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int </a:t>
            </a:r>
            <a:r>
              <a:rPr lang="en-US" b="1" dirty="0" err="1">
                <a:solidFill>
                  <a:srgbClr val="FF0000"/>
                </a:solidFill>
                <a:latin typeface="Arial Black" panose="020B0A04020102020204" pitchFamily="34" charset="0"/>
              </a:rPr>
              <a:t>i</a:t>
            </a:r>
            <a:r>
              <a:rPr lang="en-US" b="1" dirty="0"/>
              <a:t> = 1 </a:t>
            </a:r>
            <a:r>
              <a:rPr lang="en-US" dirty="0"/>
              <a:t>→ the loop starts with </a:t>
            </a:r>
            <a:r>
              <a:rPr lang="en-US" b="1" dirty="0" err="1">
                <a:solidFill>
                  <a:srgbClr val="FF0000"/>
                </a:solidFill>
                <a:latin typeface="Arial Black" panose="020B0A04020102020204" pitchFamily="34" charset="0"/>
              </a:rPr>
              <a:t>i</a:t>
            </a:r>
            <a:r>
              <a:rPr lang="en-US" dirty="0"/>
              <a:t> equal to </a:t>
            </a:r>
            <a:r>
              <a:rPr lang="en-US" b="1" dirty="0"/>
              <a:t>1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Arial Black" panose="020B0A04020102020204" pitchFamily="34" charset="0"/>
              </a:rPr>
              <a:t>i</a:t>
            </a:r>
            <a:r>
              <a:rPr lang="en-US" b="1" dirty="0"/>
              <a:t> &lt;= 5</a:t>
            </a:r>
            <a:r>
              <a:rPr lang="en-US" dirty="0"/>
              <a:t> → the loop keeps running as long as</a:t>
            </a:r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Black" panose="020B0A04020102020204" pitchFamily="34" charset="0"/>
              </a:rPr>
              <a:t>i</a:t>
            </a:r>
            <a:r>
              <a:rPr lang="en-US" dirty="0"/>
              <a:t> is less than or equal to </a:t>
            </a:r>
            <a:r>
              <a:rPr lang="en-US" b="1" dirty="0"/>
              <a:t>5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Arial Black" panose="020B0A04020102020204" pitchFamily="34" charset="0"/>
              </a:rPr>
              <a:t>i</a:t>
            </a:r>
            <a:r>
              <a:rPr lang="en-US" b="1" dirty="0"/>
              <a:t>++</a:t>
            </a:r>
            <a:r>
              <a:rPr lang="en-US" dirty="0"/>
              <a:t> → after each round, the value of </a:t>
            </a:r>
            <a:r>
              <a:rPr lang="en-US" b="1" dirty="0" err="1">
                <a:solidFill>
                  <a:srgbClr val="FF0000"/>
                </a:solidFill>
                <a:latin typeface="Arial Black" panose="020B0A04020102020204" pitchFamily="34" charset="0"/>
              </a:rPr>
              <a:t>i</a:t>
            </a:r>
            <a:r>
              <a:rPr lang="en-US" dirty="0"/>
              <a:t> increases by </a:t>
            </a:r>
            <a:r>
              <a:rPr lang="en-US" b="1" dirty="0"/>
              <a:t>1</a:t>
            </a:r>
            <a:r>
              <a:rPr lang="en-US" dirty="0"/>
              <a:t>.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11F9B12F-E4C7-4346-BBFF-FC5764D02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98" y="1911372"/>
            <a:ext cx="5709007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(int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1;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&lt;= 5;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loop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which repeats a block of code a certain number of times.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Breakdown of the for loop parts: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Initializes the loop counter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&lt;= 5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This is the condition. As long as it is true, the loop keeps running.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++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After each iteration,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increased by 1. (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++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means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+ 1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A8A59E-57A4-4C8A-84D7-8AFC69DC92A0}"/>
              </a:ext>
            </a:extLst>
          </p:cNvPr>
          <p:cNvSpPr/>
          <p:nvPr/>
        </p:nvSpPr>
        <p:spPr>
          <a:xfrm>
            <a:off x="8832350" y="1649761"/>
            <a:ext cx="16811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Explanation</a:t>
            </a:r>
          </a:p>
        </p:txBody>
      </p:sp>
      <p:pic>
        <p:nvPicPr>
          <p:cNvPr id="9" name="Picture 6" descr="java programming language java logo ...">
            <a:extLst>
              <a:ext uri="{FF2B5EF4-FFF2-40B4-BE49-F238E27FC236}">
                <a16:creationId xmlns:a16="http://schemas.microsoft.com/office/drawing/2014/main" id="{3DF260EF-1B24-4316-A72A-193953579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4863" y="51371"/>
            <a:ext cx="767137" cy="76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java programming language java logo ...">
            <a:extLst>
              <a:ext uri="{FF2B5EF4-FFF2-40B4-BE49-F238E27FC236}">
                <a16:creationId xmlns:a16="http://schemas.microsoft.com/office/drawing/2014/main" id="{2FC44227-4327-4B3F-A04B-7A49BD298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4863" y="31235"/>
            <a:ext cx="767137" cy="76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java programming language java logo ...">
            <a:extLst>
              <a:ext uri="{FF2B5EF4-FFF2-40B4-BE49-F238E27FC236}">
                <a16:creationId xmlns:a16="http://schemas.microsoft.com/office/drawing/2014/main" id="{49AABE1C-3225-43CA-88A5-75E339536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1" y="87423"/>
            <a:ext cx="767137" cy="76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1885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786" y="1376736"/>
            <a:ext cx="11558427" cy="515762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loop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we don’t know exactly how many times we’ll repeat it keeps running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long as the condition is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1913609" y="276599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2- while loop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F1A116-FF56-43FB-8DFE-5F313C9A5E0E}"/>
              </a:ext>
            </a:extLst>
          </p:cNvPr>
          <p:cNvSpPr/>
          <p:nvPr/>
        </p:nvSpPr>
        <p:spPr>
          <a:xfrm>
            <a:off x="241634" y="266288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ChapterFourLoops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6F42C1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[] </a:t>
            </a:r>
            <a:r>
              <a:rPr lang="en-US" dirty="0" err="1">
                <a:solidFill>
                  <a:srgbClr val="E36209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 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&lt;=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32F62"/>
                </a:solidFill>
                <a:latin typeface="Consolas" panose="020B0609020204030204" pitchFamily="49" charset="0"/>
              </a:rPr>
              <a:t>"Number: "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+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++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}}}  </a:t>
            </a:r>
            <a:endParaRPr lang="en-US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1BDE93-E4CF-496E-9CC3-68AA2D7CDC85}"/>
              </a:ext>
            </a:extLst>
          </p:cNvPr>
          <p:cNvSpPr/>
          <p:nvPr/>
        </p:nvSpPr>
        <p:spPr>
          <a:xfrm>
            <a:off x="8412249" y="2107541"/>
            <a:ext cx="16811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Explanation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1646AA9-461E-478A-BDCB-E39AD7DB8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7232" y="2594662"/>
            <a:ext cx="6174768" cy="4250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public class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ChapterFourLoops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defines a class named of your file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ChapterFourLoops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In Java, all code must be inside a class.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public static void main(String[]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args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is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main method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where Java starts executing the program.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1;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declares an integer variable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initializes or start it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will act as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counter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the loop.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while 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&lt;= 5)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is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while loop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It checks the condition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&lt;= 5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 ending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 long as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</a:t>
            </a: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less than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 </a:t>
            </a: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equal to 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the loop will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keep running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95596C-46A4-4A59-8891-F6246A225CBA}"/>
              </a:ext>
            </a:extLst>
          </p:cNvPr>
          <p:cNvSpPr/>
          <p:nvPr/>
        </p:nvSpPr>
        <p:spPr>
          <a:xfrm>
            <a:off x="2708953" y="5746278"/>
            <a:ext cx="352746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i</a:t>
            </a:r>
            <a:r>
              <a:rPr lang="en-US" b="1" dirty="0"/>
              <a:t>++;</a:t>
            </a:r>
          </a:p>
          <a:p>
            <a:r>
              <a:rPr lang="en-US" dirty="0"/>
              <a:t>Increases </a:t>
            </a:r>
            <a:r>
              <a:rPr lang="en-US" sz="2000" b="1" dirty="0" err="1"/>
              <a:t>i</a:t>
            </a:r>
            <a:r>
              <a:rPr lang="en-US" dirty="0"/>
              <a:t> by </a:t>
            </a:r>
            <a:r>
              <a:rPr lang="en-US" sz="2000" b="1" dirty="0"/>
              <a:t>1</a:t>
            </a:r>
            <a:r>
              <a:rPr lang="en-US" dirty="0"/>
              <a:t> after each iteration or called driver.</a:t>
            </a:r>
          </a:p>
        </p:txBody>
      </p:sp>
      <p:pic>
        <p:nvPicPr>
          <p:cNvPr id="8" name="Picture 6" descr="java programming language java logo ...">
            <a:extLst>
              <a:ext uri="{FF2B5EF4-FFF2-40B4-BE49-F238E27FC236}">
                <a16:creationId xmlns:a16="http://schemas.microsoft.com/office/drawing/2014/main" id="{6019AB22-7BB0-491C-AC6A-45A5EAAF5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4863" y="59530"/>
            <a:ext cx="767137" cy="76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java programming language java logo ...">
            <a:extLst>
              <a:ext uri="{FF2B5EF4-FFF2-40B4-BE49-F238E27FC236}">
                <a16:creationId xmlns:a16="http://schemas.microsoft.com/office/drawing/2014/main" id="{5227AC26-41C8-4DAB-926F-6D53CEFAD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4863" y="31235"/>
            <a:ext cx="767137" cy="76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java programming language java logo ...">
            <a:extLst>
              <a:ext uri="{FF2B5EF4-FFF2-40B4-BE49-F238E27FC236}">
                <a16:creationId xmlns:a16="http://schemas.microsoft.com/office/drawing/2014/main" id="{ACBD88EA-AE20-4B25-AAA5-A1235E63D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1" y="87423"/>
            <a:ext cx="767137" cy="76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0462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335640"/>
            <a:ext cx="11558427" cy="518845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one always runs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least once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even if the condition is false at the beginning..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1913610" y="177942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3- do...while loop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F30521-9D7C-43DA-8DE1-CCBCF623F8BB}"/>
              </a:ext>
            </a:extLst>
          </p:cNvPr>
          <p:cNvSpPr/>
          <p:nvPr/>
        </p:nvSpPr>
        <p:spPr>
          <a:xfrm>
            <a:off x="246579" y="2534434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ChapterFourLoops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 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6F42C1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[] </a:t>
            </a:r>
            <a:r>
              <a:rPr lang="en-US" dirty="0" err="1">
                <a:solidFill>
                  <a:srgbClr val="E36209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do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32F62"/>
                </a:solidFill>
                <a:latin typeface="Consolas" panose="020B0609020204030204" pitchFamily="49" charset="0"/>
              </a:rPr>
              <a:t>"Count: "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+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++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}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&lt;=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}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F36B5E-6D98-490A-993E-367E57261945}"/>
              </a:ext>
            </a:extLst>
          </p:cNvPr>
          <p:cNvSpPr/>
          <p:nvPr/>
        </p:nvSpPr>
        <p:spPr>
          <a:xfrm>
            <a:off x="6387101" y="2534434"/>
            <a:ext cx="5804899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int </a:t>
            </a:r>
            <a:r>
              <a:rPr lang="en-US" b="1" dirty="0" err="1"/>
              <a:t>i</a:t>
            </a:r>
            <a:r>
              <a:rPr lang="en-US" b="1" dirty="0"/>
              <a:t> = 1;</a:t>
            </a:r>
          </a:p>
          <a:p>
            <a:pPr lvl="1"/>
            <a:r>
              <a:rPr lang="en-US" sz="1600" dirty="0"/>
              <a:t>Declares a variable</a:t>
            </a:r>
            <a:r>
              <a:rPr lang="en-US" sz="1600" b="1" dirty="0"/>
              <a:t> </a:t>
            </a:r>
            <a:r>
              <a:rPr lang="en-US" sz="1600" b="1" dirty="0" err="1"/>
              <a:t>i</a:t>
            </a:r>
            <a:r>
              <a:rPr lang="en-US" sz="1600" b="1" dirty="0"/>
              <a:t> </a:t>
            </a:r>
            <a:r>
              <a:rPr lang="en-US" sz="1600" dirty="0"/>
              <a:t>and sets it to </a:t>
            </a:r>
            <a:r>
              <a:rPr lang="en-US" sz="1600" b="1" dirty="0"/>
              <a:t>1</a:t>
            </a:r>
            <a:r>
              <a:rPr lang="en-US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code inside </a:t>
            </a:r>
            <a:r>
              <a:rPr lang="en-US" b="1" dirty="0"/>
              <a:t>do</a:t>
            </a:r>
            <a:r>
              <a:rPr lang="en-US" dirty="0"/>
              <a:t> </a:t>
            </a:r>
            <a:r>
              <a:rPr lang="en-US" b="1" dirty="0"/>
              <a:t>{ ... } </a:t>
            </a:r>
            <a:r>
              <a:rPr lang="en-US" dirty="0"/>
              <a:t>always runs at least once, even if the condition is false.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After running the code, it checks the condition </a:t>
            </a:r>
          </a:p>
          <a:p>
            <a:pPr lvl="1"/>
            <a:r>
              <a:rPr lang="en-US" dirty="0"/>
              <a:t>	</a:t>
            </a:r>
            <a:r>
              <a:rPr lang="en-US" b="1" dirty="0" err="1"/>
              <a:t>i</a:t>
            </a:r>
            <a:r>
              <a:rPr lang="en-US" b="1" dirty="0"/>
              <a:t> &lt;= 5.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the condition is true, the loop repeats. If false, the loop stops.</a:t>
            </a:r>
          </a:p>
          <a:p>
            <a:r>
              <a:rPr lang="en-US" b="1" dirty="0" err="1"/>
              <a:t>i</a:t>
            </a:r>
            <a:r>
              <a:rPr lang="en-US" b="1" dirty="0"/>
              <a:t>++;</a:t>
            </a:r>
          </a:p>
          <a:p>
            <a:pPr lvl="1"/>
            <a:r>
              <a:rPr lang="en-US" dirty="0"/>
              <a:t>Increases </a:t>
            </a:r>
            <a:r>
              <a:rPr lang="en-US" b="1" dirty="0" err="1"/>
              <a:t>i</a:t>
            </a:r>
            <a:r>
              <a:rPr lang="en-US" dirty="0"/>
              <a:t> by </a:t>
            </a:r>
            <a:r>
              <a:rPr lang="en-US" b="1" dirty="0"/>
              <a:t>1 </a:t>
            </a:r>
            <a:r>
              <a:rPr lang="en-US" dirty="0"/>
              <a:t>after each iteration.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C52D39-C3E4-4242-B516-7FE7F45342B2}"/>
              </a:ext>
            </a:extLst>
          </p:cNvPr>
          <p:cNvSpPr/>
          <p:nvPr/>
        </p:nvSpPr>
        <p:spPr>
          <a:xfrm>
            <a:off x="8412249" y="2107541"/>
            <a:ext cx="16811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Explanation</a:t>
            </a:r>
          </a:p>
        </p:txBody>
      </p:sp>
      <p:pic>
        <p:nvPicPr>
          <p:cNvPr id="7" name="Picture 6" descr="java programming language java logo ...">
            <a:extLst>
              <a:ext uri="{FF2B5EF4-FFF2-40B4-BE49-F238E27FC236}">
                <a16:creationId xmlns:a16="http://schemas.microsoft.com/office/drawing/2014/main" id="{8D8746F3-386C-4307-9894-9189378E8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4863" y="31235"/>
            <a:ext cx="767137" cy="76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java programming language java logo ...">
            <a:extLst>
              <a:ext uri="{FF2B5EF4-FFF2-40B4-BE49-F238E27FC236}">
                <a16:creationId xmlns:a16="http://schemas.microsoft.com/office/drawing/2014/main" id="{3905AD39-7F03-4A66-91ED-FB5C53235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1" y="87423"/>
            <a:ext cx="767137" cy="76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1182618-CEED-4861-9EB7-67D9563A5DDF}"/>
              </a:ext>
            </a:extLst>
          </p:cNvPr>
          <p:cNvSpPr/>
          <p:nvPr/>
        </p:nvSpPr>
        <p:spPr>
          <a:xfrm>
            <a:off x="561654" y="5293249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ChapterFourLoops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--)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maxamed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}}}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574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4BCEE-7BA2-47E9-ABC8-869A5399A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4951" y="2738257"/>
            <a:ext cx="5778357" cy="220894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loops For While Do While.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(int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1;)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&lt;= 10;)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</p:txBody>
      </p:sp>
      <p:sp>
        <p:nvSpPr>
          <p:cNvPr id="5" name="Flowchart: Punched Tape 4">
            <a:extLst>
              <a:ext uri="{FF2B5EF4-FFF2-40B4-BE49-F238E27FC236}">
                <a16:creationId xmlns:a16="http://schemas.microsoft.com/office/drawing/2014/main" id="{8B203EED-8FC3-4A58-9808-C876FD72B6E1}"/>
              </a:ext>
            </a:extLst>
          </p:cNvPr>
          <p:cNvSpPr/>
          <p:nvPr/>
        </p:nvSpPr>
        <p:spPr>
          <a:xfrm>
            <a:off x="1960223" y="513708"/>
            <a:ext cx="7787811" cy="1438382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Arial Black" panose="020B0A04020102020204" pitchFamily="34" charset="0"/>
                <a:cs typeface="Aharoni" panose="02010803020104030203" pitchFamily="2" charset="-79"/>
              </a:rPr>
              <a:t>Class work</a:t>
            </a:r>
            <a:endParaRPr lang="en-US" sz="4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027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345914"/>
            <a:ext cx="11558427" cy="517817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cs typeface="Times New Roman" panose="02020603050405020304" pitchFamily="18" charset="0"/>
              </a:rPr>
              <a:t>Strings are used for </a:t>
            </a:r>
            <a:r>
              <a:rPr lang="en-US" sz="2000" b="1" dirty="0">
                <a:cs typeface="Times New Roman" panose="02020603050405020304" pitchFamily="18" charset="0"/>
              </a:rPr>
              <a:t>storing text</a:t>
            </a:r>
            <a:r>
              <a:rPr lang="en-US" sz="2000" dirty="0"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cs typeface="Times New Roman" panose="02020603050405020304" pitchFamily="18" charset="0"/>
              </a:rPr>
              <a:t>A String variable contains a collection of characters surrounded by double quotes ( </a:t>
            </a:r>
            <a:r>
              <a:rPr lang="en-US" sz="1800" b="1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“ “ </a:t>
            </a:r>
            <a:r>
              <a:rPr lang="en-US" sz="1800" dirty="0">
                <a:cs typeface="Times New Roman" panose="02020603050405020304" pitchFamily="18" charset="0"/>
              </a:rPr>
              <a:t>) not single quotes ( </a:t>
            </a:r>
            <a:r>
              <a:rPr lang="en-US" sz="1800" b="1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‘ ‘</a:t>
            </a:r>
            <a:r>
              <a:rPr lang="en-US" sz="1800" dirty="0">
                <a:cs typeface="Times New Roman" panose="02020603050405020304" pitchFamily="18" charset="0"/>
              </a:rPr>
              <a:t>) .</a:t>
            </a: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1985529" y="245776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Java Strings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31A113-FD0E-4074-9304-DCDE3E52DDA3}"/>
              </a:ext>
            </a:extLst>
          </p:cNvPr>
          <p:cNvSpPr/>
          <p:nvPr/>
        </p:nvSpPr>
        <p:spPr>
          <a:xfrm>
            <a:off x="246579" y="2736771"/>
            <a:ext cx="11924874" cy="3787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ChapterFourLoops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6F42C1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[] </a:t>
            </a:r>
            <a:r>
              <a:rPr lang="en-US" dirty="0" err="1">
                <a:solidFill>
                  <a:srgbClr val="E36209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6F42C1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greeting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32F62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032F62"/>
                </a:solidFill>
                <a:latin typeface="Consolas" panose="020B0609020204030204" pitchFamily="49" charset="0"/>
              </a:rPr>
              <a:t>Asalaamu</a:t>
            </a:r>
            <a:r>
              <a:rPr lang="en-US" dirty="0">
                <a:solidFill>
                  <a:srgbClr val="032F62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32F62"/>
                </a:solidFill>
                <a:latin typeface="Consolas" panose="020B0609020204030204" pitchFamily="49" charset="0"/>
              </a:rPr>
              <a:t>calaykum</a:t>
            </a:r>
            <a:r>
              <a:rPr lang="en-US" dirty="0">
                <a:solidFill>
                  <a:srgbClr val="032F62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 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(greeting); // printing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Asalaamu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calaykum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 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greeting.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length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()); // printing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length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of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Asalaamu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calaykum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 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greeting.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toUpperCase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()); // printing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Uppercase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of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Asalaamu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Calaykum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 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greeting.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toLowerCase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()); // printing </a:t>
            </a:r>
            <a:r>
              <a:rPr lang="en-US" b="1" dirty="0">
                <a:latin typeface="Consolas" panose="020B0609020204030204" pitchFamily="49" charset="0"/>
              </a:rPr>
              <a:t>Lowercase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of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Asalaamu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calaykum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Picture 4" descr="java programming language java logo ...">
            <a:extLst>
              <a:ext uri="{FF2B5EF4-FFF2-40B4-BE49-F238E27FC236}">
                <a16:creationId xmlns:a16="http://schemas.microsoft.com/office/drawing/2014/main" id="{FF14B42C-1DA9-4F0F-9451-B0CD18112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4863" y="31235"/>
            <a:ext cx="767137" cy="76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java programming language java logo ...">
            <a:extLst>
              <a:ext uri="{FF2B5EF4-FFF2-40B4-BE49-F238E27FC236}">
                <a16:creationId xmlns:a16="http://schemas.microsoft.com/office/drawing/2014/main" id="{A4A5AB40-C489-4856-B13F-471D9EA76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1" y="87423"/>
            <a:ext cx="767137" cy="76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6648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479478"/>
            <a:ext cx="11558427" cy="50446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</a:t>
            </a: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+ </a:t>
            </a:r>
            <a:r>
              <a:rPr lang="en-US" sz="2000" dirty="0"/>
              <a:t>operator can be used between strings to combine or join them.</a:t>
            </a:r>
          </a:p>
          <a:p>
            <a:pPr marL="0" indent="0">
              <a:buNone/>
            </a:pPr>
            <a:r>
              <a:rPr lang="en-US" sz="2000" dirty="0"/>
              <a:t>This is called concatenation.</a:t>
            </a: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1913610" y="194408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String Concatenation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32C5C0-DE60-44B3-8F71-CA03A3749C63}"/>
              </a:ext>
            </a:extLst>
          </p:cNvPr>
          <p:cNvSpPr/>
          <p:nvPr/>
        </p:nvSpPr>
        <p:spPr>
          <a:xfrm>
            <a:off x="246579" y="3012935"/>
            <a:ext cx="7498424" cy="2956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ChapterFourLoops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6F42C1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E36209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[])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6F42C1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32F62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032F62"/>
                </a:solidFill>
                <a:latin typeface="Consolas" panose="020B0609020204030204" pitchFamily="49" charset="0"/>
              </a:rPr>
              <a:t>khaalid</a:t>
            </a:r>
            <a:r>
              <a:rPr lang="en-US" dirty="0">
                <a:solidFill>
                  <a:srgbClr val="032F62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6F42C1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SecondName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32F62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032F62"/>
                </a:solidFill>
                <a:latin typeface="Consolas" panose="020B0609020204030204" pitchFamily="49" charset="0"/>
              </a:rPr>
              <a:t>Axmed</a:t>
            </a:r>
            <a:r>
              <a:rPr lang="en-US" dirty="0">
                <a:solidFill>
                  <a:srgbClr val="032F62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+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32F62"/>
                </a:solidFill>
                <a:latin typeface="Consolas" panose="020B0609020204030204" pitchFamily="49" charset="0"/>
              </a:rPr>
              <a:t>" "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+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8FE2AA-1297-4F32-81C8-69D1653BB76B}"/>
              </a:ext>
            </a:extLst>
          </p:cNvPr>
          <p:cNvSpPr/>
          <p:nvPr/>
        </p:nvSpPr>
        <p:spPr>
          <a:xfrm>
            <a:off x="246579" y="2246490"/>
            <a:ext cx="53319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" "  </a:t>
            </a:r>
            <a:r>
              <a:rPr lang="en-US" dirty="0">
                <a:latin typeface="Consolas" panose="020B0609020204030204" pitchFamily="49" charset="0"/>
              </a:rPr>
              <a:t>We use for space between two Strings.</a:t>
            </a:r>
            <a:endParaRPr lang="en-US" dirty="0"/>
          </a:p>
        </p:txBody>
      </p:sp>
      <p:pic>
        <p:nvPicPr>
          <p:cNvPr id="7" name="Picture 6" descr="java programming language java logo ...">
            <a:extLst>
              <a:ext uri="{FF2B5EF4-FFF2-40B4-BE49-F238E27FC236}">
                <a16:creationId xmlns:a16="http://schemas.microsoft.com/office/drawing/2014/main" id="{5F20BFF0-5A91-49A0-8B99-FE0F6F2C8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4863" y="31235"/>
            <a:ext cx="767137" cy="76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java programming language java logo ...">
            <a:extLst>
              <a:ext uri="{FF2B5EF4-FFF2-40B4-BE49-F238E27FC236}">
                <a16:creationId xmlns:a16="http://schemas.microsoft.com/office/drawing/2014/main" id="{3FB226B3-42E3-4DCA-B31F-A6F713BF8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1" y="87423"/>
            <a:ext cx="767137" cy="76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C4BAA8-D3C4-428A-A6F1-F82008C2F8F8}"/>
              </a:ext>
            </a:extLst>
          </p:cNvPr>
          <p:cNvSpPr/>
          <p:nvPr/>
        </p:nvSpPr>
        <p:spPr>
          <a:xfrm>
            <a:off x="6120781" y="2551837"/>
            <a:ext cx="616620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ChapterFourLoops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[])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yaxye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855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510300"/>
            <a:ext cx="11558427" cy="501378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You can use string concatenation to build sentences with both </a:t>
            </a:r>
            <a:r>
              <a:rPr lang="en-US" sz="2000" b="1" dirty="0">
                <a:solidFill>
                  <a:srgbClr val="FF0000"/>
                </a:solidFill>
              </a:rPr>
              <a:t>text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rgbClr val="FF0000"/>
                </a:solidFill>
              </a:rPr>
              <a:t>variables</a:t>
            </a:r>
            <a:r>
              <a:rPr lang="en-US" sz="2000" dirty="0"/>
              <a:t>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1843402" y="225229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Concatenation in Sentences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FE4885-2683-4F48-BA49-9DCC9763D955}"/>
              </a:ext>
            </a:extLst>
          </p:cNvPr>
          <p:cNvSpPr/>
          <p:nvPr/>
        </p:nvSpPr>
        <p:spPr>
          <a:xfrm>
            <a:off x="386994" y="2752384"/>
            <a:ext cx="1169884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ChapterFourLoops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6F42C1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E36209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[]) {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6F42C1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name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32F62"/>
                </a:solidFill>
                <a:latin typeface="Consolas" panose="020B0609020204030204" pitchFamily="49" charset="0"/>
              </a:rPr>
              <a:t>"Ali"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age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25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32F62"/>
                </a:solidFill>
                <a:latin typeface="Consolas" panose="020B0609020204030204" pitchFamily="49" charset="0"/>
              </a:rPr>
              <a:t>"My name is "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+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+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32F62"/>
                </a:solidFill>
                <a:latin typeface="Consolas" panose="020B0609020204030204" pitchFamily="49" charset="0"/>
              </a:rPr>
              <a:t>" and I am "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+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+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32F62"/>
                </a:solidFill>
                <a:latin typeface="Consolas" panose="020B0609020204030204" pitchFamily="49" charset="0"/>
              </a:rPr>
              <a:t>" years old."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Picture 4" descr="java programming language java logo ...">
            <a:extLst>
              <a:ext uri="{FF2B5EF4-FFF2-40B4-BE49-F238E27FC236}">
                <a16:creationId xmlns:a16="http://schemas.microsoft.com/office/drawing/2014/main" id="{06223D02-C5B3-4487-83D0-B37279689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4863" y="31235"/>
            <a:ext cx="767137" cy="76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java programming language java logo ...">
            <a:extLst>
              <a:ext uri="{FF2B5EF4-FFF2-40B4-BE49-F238E27FC236}">
                <a16:creationId xmlns:a16="http://schemas.microsoft.com/office/drawing/2014/main" id="{DD0CD960-8746-4F77-89C8-96D8A9E2D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1" y="87423"/>
            <a:ext cx="767137" cy="76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7440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654138"/>
            <a:ext cx="11558427" cy="486995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also use the </a:t>
            </a:r>
            <a:r>
              <a:rPr lang="en-US" sz="1600" b="1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concat ( 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to concatenate strings.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b="1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concat( )</a:t>
            </a:r>
            <a:r>
              <a:rPr lang="en-US" sz="16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is used to combine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two strings together.</a:t>
            </a: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1913610" y="225229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The </a:t>
            </a:r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concat ( ) </a:t>
            </a:r>
            <a:r>
              <a:rPr lang="en-US" sz="2800" dirty="0">
                <a:latin typeface="Arial Black" panose="020B0A04020102020204" pitchFamily="34" charset="0"/>
              </a:rPr>
              <a:t>Method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BA522E-5809-4B64-9ADF-D222FC1991E3}"/>
              </a:ext>
            </a:extLst>
          </p:cNvPr>
          <p:cNvSpPr/>
          <p:nvPr/>
        </p:nvSpPr>
        <p:spPr>
          <a:xfrm>
            <a:off x="571929" y="3227966"/>
            <a:ext cx="806863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ChapterFourLoops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6F42C1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E36209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[]) {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6F42C1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Firstname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32F62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032F62"/>
                </a:solidFill>
                <a:latin typeface="Consolas" panose="020B0609020204030204" pitchFamily="49" charset="0"/>
              </a:rPr>
              <a:t>Xamda</a:t>
            </a:r>
            <a:r>
              <a:rPr lang="en-US" dirty="0">
                <a:solidFill>
                  <a:srgbClr val="032F62"/>
                </a:solidFill>
                <a:latin typeface="Consolas" panose="020B0609020204030204" pitchFamily="49" charset="0"/>
              </a:rPr>
              <a:t> "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6F42C1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Fathername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32F62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032F62"/>
                </a:solidFill>
                <a:latin typeface="Consolas" panose="020B0609020204030204" pitchFamily="49" charset="0"/>
              </a:rPr>
              <a:t>Cabdi</a:t>
            </a:r>
            <a:r>
              <a:rPr lang="en-US" dirty="0">
                <a:solidFill>
                  <a:srgbClr val="032F62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6F42C1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Fullname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Firstname.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concat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Fathername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Fullname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 descr="java programming language java logo ...">
            <a:extLst>
              <a:ext uri="{FF2B5EF4-FFF2-40B4-BE49-F238E27FC236}">
                <a16:creationId xmlns:a16="http://schemas.microsoft.com/office/drawing/2014/main" id="{1286F40D-F82D-4B34-A7BF-C3E46DFFD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4863" y="31235"/>
            <a:ext cx="767137" cy="76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java programming language java logo ...">
            <a:extLst>
              <a:ext uri="{FF2B5EF4-FFF2-40B4-BE49-F238E27FC236}">
                <a16:creationId xmlns:a16="http://schemas.microsoft.com/office/drawing/2014/main" id="{89B94E57-BBFD-47A2-92E8-1F40E8378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1" y="87423"/>
            <a:ext cx="767137" cy="76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9748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654138"/>
            <a:ext cx="11558427" cy="486995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Booleans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often in programming, you will need a data type that can only have one of two values, like:</a:t>
            </a:r>
          </a:p>
          <a:p>
            <a:pPr lvl="1"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 / NO</a:t>
            </a:r>
          </a:p>
          <a:p>
            <a:pPr lvl="1"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/ OFF</a:t>
            </a:r>
          </a:p>
          <a:p>
            <a:pPr lvl="1"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/ FALSE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this, Java has a Boolean data type, which can store true or false values.</a:t>
            </a: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1913610" y="430713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Booleans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236BD2-215F-46F5-95A5-F10866F3207C}"/>
              </a:ext>
            </a:extLst>
          </p:cNvPr>
          <p:cNvSpPr/>
          <p:nvPr/>
        </p:nvSpPr>
        <p:spPr>
          <a:xfrm>
            <a:off x="4182390" y="4549676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ChapterFourLoops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6F42C1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[] </a:t>
            </a:r>
            <a:r>
              <a:rPr lang="en-US" dirty="0" err="1">
                <a:solidFill>
                  <a:srgbClr val="E36209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D73A49"/>
                </a:solidFill>
                <a:latin typeface="Consolas" panose="020B0609020204030204" pitchFamily="49" charset="0"/>
              </a:rPr>
              <a:t>boolean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muslim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true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D73A49"/>
                </a:solidFill>
                <a:latin typeface="Consolas" panose="020B0609020204030204" pitchFamily="49" charset="0"/>
              </a:rPr>
              <a:t>boolean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mynumber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false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;    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muslim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mynumber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Picture 4" descr="java programming language java logo ...">
            <a:extLst>
              <a:ext uri="{FF2B5EF4-FFF2-40B4-BE49-F238E27FC236}">
                <a16:creationId xmlns:a16="http://schemas.microsoft.com/office/drawing/2014/main" id="{9F757D04-B37E-4E16-818D-B58587D9C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4863" y="31235"/>
            <a:ext cx="767137" cy="76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java programming language java logo ...">
            <a:extLst>
              <a:ext uri="{FF2B5EF4-FFF2-40B4-BE49-F238E27FC236}">
                <a16:creationId xmlns:a16="http://schemas.microsoft.com/office/drawing/2014/main" id="{C59F1B79-0169-4D15-8FB3-A65C40DD6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1" y="87423"/>
            <a:ext cx="767137" cy="76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217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294544"/>
            <a:ext cx="11558427" cy="522954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Boolean expression returns a Boolean value:- </a:t>
            </a:r>
            <a:r>
              <a:rPr 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useful to build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make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programs.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use a comparison operator, such as the greater than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(&gt;)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operator, to find out if an expression (or a variable) is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1913610" y="194407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Boolean Expressions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89812A-D48B-4194-8F5C-4A664C3C4E1B}"/>
              </a:ext>
            </a:extLst>
          </p:cNvPr>
          <p:cNvSpPr/>
          <p:nvPr/>
        </p:nvSpPr>
        <p:spPr>
          <a:xfrm>
            <a:off x="419527" y="3621641"/>
            <a:ext cx="1121252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ChapterFourLoops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6F42C1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[] </a:t>
            </a:r>
            <a:r>
              <a:rPr lang="en-US" dirty="0" err="1">
                <a:solidFill>
                  <a:srgbClr val="E36209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x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y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90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(x 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 y); </a:t>
            </a:r>
            <a:r>
              <a:rPr lang="en-US" dirty="0">
                <a:solidFill>
                  <a:srgbClr val="6A737D"/>
                </a:solidFill>
                <a:latin typeface="Consolas" panose="020B0609020204030204" pitchFamily="49" charset="0"/>
              </a:rPr>
              <a:t>// returns true, because 10 is higher than 9  </a:t>
            </a:r>
            <a:endParaRPr lang="en-US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5CC5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(x</a:t>
            </a:r>
            <a:r>
              <a:rPr lang="en-US" dirty="0">
                <a:solidFill>
                  <a:srgbClr val="D73A49"/>
                </a:solidFill>
                <a:latin typeface="Consolas" panose="020B0609020204030204" pitchFamily="49" charset="0"/>
              </a:rPr>
              <a:t>==</a:t>
            </a: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6A737D"/>
                </a:solidFill>
                <a:latin typeface="Consolas" panose="020B0609020204030204" pitchFamily="49" charset="0"/>
              </a:rPr>
              <a:t>// returns true, because the value of x is equal to 10</a:t>
            </a:r>
            <a:endParaRPr lang="en-US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dirty="0">
                <a:solidFill>
                  <a:srgbClr val="24292E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 descr="java programming language java logo ...">
            <a:extLst>
              <a:ext uri="{FF2B5EF4-FFF2-40B4-BE49-F238E27FC236}">
                <a16:creationId xmlns:a16="http://schemas.microsoft.com/office/drawing/2014/main" id="{60FDDB8A-71D1-4995-A340-4B81A0836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4863" y="31235"/>
            <a:ext cx="767137" cy="76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java programming language java logo ...">
            <a:extLst>
              <a:ext uri="{FF2B5EF4-FFF2-40B4-BE49-F238E27FC236}">
                <a16:creationId xmlns:a16="http://schemas.microsoft.com/office/drawing/2014/main" id="{2C54B9DD-9D15-4EAB-AE0E-62077031D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1" y="87423"/>
            <a:ext cx="767137" cy="76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0097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3136236" y="1663611"/>
            <a:ext cx="8935900" cy="2980308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perspectiveHeroicExtremeRightFacing"/>
            <a:lightRig rig="threePt" dir="t"/>
          </a:scene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Make More Practical</a:t>
            </a:r>
          </a:p>
        </p:txBody>
      </p:sp>
      <p:pic>
        <p:nvPicPr>
          <p:cNvPr id="5" name="Picture 4" descr="java programming language java logo ...">
            <a:extLst>
              <a:ext uri="{FF2B5EF4-FFF2-40B4-BE49-F238E27FC236}">
                <a16:creationId xmlns:a16="http://schemas.microsoft.com/office/drawing/2014/main" id="{F39318D2-2B11-4314-AC8D-D21C0CC01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4863" y="31235"/>
            <a:ext cx="767137" cy="76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java programming language java logo ...">
            <a:extLst>
              <a:ext uri="{FF2B5EF4-FFF2-40B4-BE49-F238E27FC236}">
                <a16:creationId xmlns:a16="http://schemas.microsoft.com/office/drawing/2014/main" id="{46D06EF7-FF71-4DD1-AEC7-A98D21D4D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1" y="87423"/>
            <a:ext cx="767137" cy="76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589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948623" y="1134987"/>
            <a:ext cx="5317588" cy="914400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0">
            <a:schemeClr val="accent3"/>
          </a:lnRef>
          <a:fillRef idx="1002">
            <a:schemeClr val="dk1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Next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2016992" y="2922663"/>
            <a:ext cx="8917082" cy="1902158"/>
          </a:xfrm>
          <a:prstGeom prst="roundRect">
            <a:avLst/>
          </a:prstGeom>
          <a:scene3d>
            <a:camera prst="perspectiveHeroicExtremeRightFacing"/>
            <a:lightRig rig="threePt" dir="t"/>
          </a:scene3d>
        </p:spPr>
        <p:style>
          <a:lnRef idx="2">
            <a:schemeClr val="accent4">
              <a:shade val="50000"/>
            </a:schemeClr>
          </a:lnRef>
          <a:fillRef idx="1002">
            <a:schemeClr val="dk1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6000" dirty="0">
                <a:solidFill>
                  <a:schemeClr val="bg1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Arrays</a:t>
            </a:r>
          </a:p>
        </p:txBody>
      </p:sp>
      <p:sp>
        <p:nvSpPr>
          <p:cNvPr id="5" name="Down Arrow 4"/>
          <p:cNvSpPr/>
          <p:nvPr/>
        </p:nvSpPr>
        <p:spPr>
          <a:xfrm>
            <a:off x="6343650" y="2171700"/>
            <a:ext cx="263767" cy="628650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C73227-C194-46DB-A990-853A7657A512}"/>
              </a:ext>
            </a:extLst>
          </p:cNvPr>
          <p:cNvSpPr/>
          <p:nvPr/>
        </p:nvSpPr>
        <p:spPr>
          <a:xfrm>
            <a:off x="0" y="369450"/>
            <a:ext cx="12192000" cy="1646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BF9322-9B2B-490B-B4DC-5B7E327070C2}"/>
              </a:ext>
            </a:extLst>
          </p:cNvPr>
          <p:cNvSpPr/>
          <p:nvPr/>
        </p:nvSpPr>
        <p:spPr>
          <a:xfrm>
            <a:off x="0" y="6323899"/>
            <a:ext cx="12192000" cy="1646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3068</TotalTime>
  <Words>1643</Words>
  <Application>Microsoft Office PowerPoint</Application>
  <PresentationFormat>Widescreen</PresentationFormat>
  <Paragraphs>171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Aharoni</vt:lpstr>
      <vt:lpstr>Arial</vt:lpstr>
      <vt:lpstr>Arial Black</vt:lpstr>
      <vt:lpstr>Calibri</vt:lpstr>
      <vt:lpstr>Calibri Light</vt:lpstr>
      <vt:lpstr>Consolas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maxamed</dc:creator>
  <cp:lastModifiedBy>PC</cp:lastModifiedBy>
  <cp:revision>319</cp:revision>
  <dcterms:created xsi:type="dcterms:W3CDTF">2025-08-22T07:58:14Z</dcterms:created>
  <dcterms:modified xsi:type="dcterms:W3CDTF">2025-10-28T06:20:17Z</dcterms:modified>
</cp:coreProperties>
</file>